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  <p:sldId id="287" r:id="rId12"/>
    <p:sldId id="288" r:id="rId13"/>
    <p:sldId id="289" r:id="rId14"/>
    <p:sldId id="286" r:id="rId15"/>
    <p:sldId id="291" r:id="rId16"/>
    <p:sldId id="285" r:id="rId17"/>
    <p:sldId id="290" r:id="rId18"/>
  </p:sldIdLst>
  <p:sldSz cx="24384000" cy="13716000"/>
  <p:notesSz cx="6858000" cy="9144000"/>
  <p:embeddedFontLst>
    <p:embeddedFont>
      <p:font typeface="Anton" pitchFamily="2" charset="77"/>
      <p:regular r:id="rId20"/>
    </p:embeddedFont>
    <p:embeddedFont>
      <p:font typeface="Avenir Next Medium" panose="020B0503020202020204" pitchFamily="34" charset="0"/>
      <p:regular r:id="rId21"/>
      <p:italic r:id="rId22"/>
    </p:embeddedFont>
    <p:embeddedFont>
      <p:font typeface="Avenir Next Regular" panose="020B0503020202020204" pitchFamily="34" charset="0"/>
      <p:regular r:id="rId23"/>
      <p:bold r:id="rId24"/>
      <p:italic r:id="rId25"/>
      <p:boldItalic r:id="rId26"/>
    </p:embeddedFont>
    <p:embeddedFont>
      <p:font typeface="Barlow" pitchFamily="2" charset="77"/>
      <p:regular r:id="rId27"/>
      <p:bold r:id="rId28"/>
      <p:italic r:id="rId29"/>
      <p:boldItalic r:id="rId30"/>
    </p:embeddedFont>
    <p:embeddedFont>
      <p:font typeface="Epilogue Medium" pitchFamily="2" charset="77"/>
      <p:regular r:id="rId31"/>
      <p:italic r:id="rId32"/>
    </p:embeddedFont>
    <p:embeddedFont>
      <p:font typeface="Lato Light" panose="020F0502020204030203" pitchFamily="34" charset="0"/>
      <p:regular r:id="rId33"/>
      <p:italic r:id="rId34"/>
    </p:embeddedFont>
    <p:embeddedFont>
      <p:font typeface="Montserrat" pitchFamily="2" charset="77"/>
      <p:regular r:id="rId35"/>
      <p:bold r:id="rId36"/>
      <p:italic r:id="rId37"/>
      <p:boldItalic r:id="rId38"/>
    </p:embeddedFont>
    <p:embeddedFont>
      <p:font typeface="Montserrat SemiBold" pitchFamily="2" charset="77"/>
      <p:regular r:id="rId39"/>
      <p:bold r:id="rId40"/>
      <p:italic r:id="rId41"/>
      <p:boldItalic r:id="rId4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659"/>
    <a:srgbClr val="72A2C5"/>
    <a:srgbClr val="C869C1"/>
    <a:srgbClr val="EA345C"/>
    <a:srgbClr val="562D53"/>
    <a:srgbClr val="FDC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7B5FE0-C778-0B44-8FFE-9D8C8DF19E74}" v="3" dt="2026-01-13T23:54:33.85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50"/>
    <p:restoredTop sz="86164"/>
  </p:normalViewPr>
  <p:slideViewPr>
    <p:cSldViewPr snapToGrid="0">
      <p:cViewPr varScale="1">
        <p:scale>
          <a:sx n="54" d="100"/>
          <a:sy n="54" d="100"/>
        </p:scale>
        <p:origin x="53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tableStyles" Target="tableStyles.xml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 Saunders" userId="4a2bcc72-f997-4bbe-9887-f3c88726198e" providerId="ADAL" clId="{7F686FC9-3D8C-5000-9B02-1ECDE470E43B}"/>
    <pc:docChg chg="custSel modSld">
      <pc:chgData name="Ross Saunders" userId="4a2bcc72-f997-4bbe-9887-f3c88726198e" providerId="ADAL" clId="{7F686FC9-3D8C-5000-9B02-1ECDE470E43B}" dt="2026-01-13T23:54:33.854" v="32"/>
      <pc:docMkLst>
        <pc:docMk/>
      </pc:docMkLst>
      <pc:sldChg chg="addSp delSp modSp mod">
        <pc:chgData name="Ross Saunders" userId="4a2bcc72-f997-4bbe-9887-f3c88726198e" providerId="ADAL" clId="{7F686FC9-3D8C-5000-9B02-1ECDE470E43B}" dt="2026-01-13T23:54:29.128" v="30"/>
        <pc:sldMkLst>
          <pc:docMk/>
          <pc:sldMk cId="0" sldId="266"/>
        </pc:sldMkLst>
        <pc:spChg chg="del mod">
          <ac:chgData name="Ross Saunders" userId="4a2bcc72-f997-4bbe-9887-f3c88726198e" providerId="ADAL" clId="{7F686FC9-3D8C-5000-9B02-1ECDE470E43B}" dt="2026-01-13T23:54:28.810" v="29" actId="478"/>
          <ac:spMkLst>
            <pc:docMk/>
            <pc:sldMk cId="0" sldId="266"/>
            <ac:spMk id="26" creationId="{47BCF2E5-2C4C-F7D0-ABEC-29363043A37D}"/>
          </ac:spMkLst>
        </pc:spChg>
        <pc:spChg chg="add mod">
          <ac:chgData name="Ross Saunders" userId="4a2bcc72-f997-4bbe-9887-f3c88726198e" providerId="ADAL" clId="{7F686FC9-3D8C-5000-9B02-1ECDE470E43B}" dt="2026-01-13T23:54:29.128" v="30"/>
          <ac:spMkLst>
            <pc:docMk/>
            <pc:sldMk cId="0" sldId="266"/>
            <ac:spMk id="27" creationId="{3D10019F-417A-1DC1-C672-9D4BC29E6DD5}"/>
          </ac:spMkLst>
        </pc:spChg>
      </pc:sldChg>
      <pc:sldChg chg="addSp delSp modSp mod">
        <pc:chgData name="Ross Saunders" userId="4a2bcc72-f997-4bbe-9887-f3c88726198e" providerId="ADAL" clId="{7F686FC9-3D8C-5000-9B02-1ECDE470E43B}" dt="2026-01-13T23:54:33.854" v="32"/>
        <pc:sldMkLst>
          <pc:docMk/>
          <pc:sldMk cId="367285415" sldId="291"/>
        </pc:sldMkLst>
        <pc:spChg chg="del">
          <ac:chgData name="Ross Saunders" userId="4a2bcc72-f997-4bbe-9887-f3c88726198e" providerId="ADAL" clId="{7F686FC9-3D8C-5000-9B02-1ECDE470E43B}" dt="2026-01-13T23:52:52.841" v="27" actId="478"/>
          <ac:spMkLst>
            <pc:docMk/>
            <pc:sldMk cId="367285415" sldId="291"/>
            <ac:spMk id="26" creationId="{D5C146E7-4D6E-1F56-3A30-152CCF1B5E07}"/>
          </ac:spMkLst>
        </pc:spChg>
        <pc:spChg chg="add del mod">
          <ac:chgData name="Ross Saunders" userId="4a2bcc72-f997-4bbe-9887-f3c88726198e" providerId="ADAL" clId="{7F686FC9-3D8C-5000-9B02-1ECDE470E43B}" dt="2026-01-13T23:54:33.591" v="31" actId="478"/>
          <ac:spMkLst>
            <pc:docMk/>
            <pc:sldMk cId="367285415" sldId="291"/>
            <ac:spMk id="27" creationId="{C13E520E-4A48-3F9F-10E8-20BB19620E86}"/>
          </ac:spMkLst>
        </pc:spChg>
        <pc:spChg chg="add mod">
          <ac:chgData name="Ross Saunders" userId="4a2bcc72-f997-4bbe-9887-f3c88726198e" providerId="ADAL" clId="{7F686FC9-3D8C-5000-9B02-1ECDE470E43B}" dt="2026-01-13T23:54:33.854" v="32"/>
          <ac:spMkLst>
            <pc:docMk/>
            <pc:sldMk cId="367285415" sldId="291"/>
            <ac:spMk id="28" creationId="{A0A63327-462D-3E8F-8FCF-4C9A6C1FF9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Montserrat" pitchFamily="2" charset="77"/>
        <a:ea typeface="Helvetica Neue"/>
        <a:cs typeface="Helvetica Neue"/>
        <a:sym typeface="Helvetica Neue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13" name="Shape 2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206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24" name="Shape 22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782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40" name="Shape 2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45" name="Shape 2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65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408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98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61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2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724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008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013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re Text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 flipV="1">
            <a:off x="762000" y="6070232"/>
            <a:ext cx="22859999" cy="369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23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62000" y="6477000"/>
            <a:ext cx="22860001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 b="0" i="0">
                <a:solidFill>
                  <a:srgbClr val="FF0659"/>
                </a:solidFill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62000" y="3429000"/>
            <a:ext cx="22860001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lack and white aerial photo of a person standing on top of a dam"/>
          <p:cNvSpPr>
            <a:spLocks noGrp="1"/>
          </p:cNvSpPr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3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 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solidFill>
                  <a:srgbClr val="502F51"/>
                </a:solidFill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solidFill>
                  <a:srgbClr val="502F51"/>
                </a:solidFill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solidFill>
                  <a:srgbClr val="502F51"/>
                </a:solidFill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solidFill>
                  <a:srgbClr val="502F51"/>
                </a:solidFill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solidFill>
                  <a:srgbClr val="502F51"/>
                </a:solidFill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13221" y="5842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 flipV="1">
            <a:off x="11049000" y="8635798"/>
            <a:ext cx="12572997" cy="203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62" name="Black and white photo of windmills under a cloudy sky"/>
          <p:cNvSpPr>
            <a:spLocks noGrp="1"/>
          </p:cNvSpPr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6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b="1" i="0" cap="all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724210"/>
            <a:ext cx="20955000" cy="54579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b="1" i="0" cap="all" spc="180">
                <a:solidFill>
                  <a:srgbClr val="502F51"/>
                </a:solidFill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r>
              <a:rPr dirty="0"/>
              <a:t>Text</a:t>
            </a:r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82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724210"/>
            <a:ext cx="20955000" cy="54579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b="1" i="0" cap="all" spc="180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r>
              <a:rPr dirty="0"/>
              <a:t>Text</a:t>
            </a:r>
          </a:p>
        </p:txBody>
      </p:sp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8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EA355C"/>
              </a:buClr>
            </a:lvl1pPr>
            <a:lvl2pPr>
              <a:buClr>
                <a:srgbClr val="EA355C"/>
              </a:buClr>
            </a:lvl2pPr>
            <a:lvl3pPr>
              <a:buClr>
                <a:srgbClr val="EA355C"/>
              </a:buClr>
            </a:lvl3pPr>
            <a:lvl4pPr>
              <a:buClr>
                <a:srgbClr val="EA355C"/>
              </a:buClr>
            </a:lvl4pPr>
            <a:lvl5pPr>
              <a:buClr>
                <a:srgbClr val="EA355C"/>
              </a:buCl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93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724210"/>
            <a:ext cx="20955000" cy="54579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b="1" i="0" cap="all" spc="180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r>
              <a:rPr dirty="0"/>
              <a:t>Text</a:t>
            </a:r>
          </a:p>
        </p:txBody>
      </p:sp>
      <p:sp>
        <p:nvSpPr>
          <p:cNvPr id="9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9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EA355C"/>
              </a:buClr>
            </a:lvl1pPr>
            <a:lvl2pPr>
              <a:buClr>
                <a:srgbClr val="EA355C"/>
              </a:buClr>
            </a:lvl2pPr>
            <a:lvl3pPr>
              <a:buClr>
                <a:srgbClr val="EA355C"/>
              </a:buClr>
            </a:lvl3pPr>
            <a:lvl4pPr>
              <a:buClr>
                <a:srgbClr val="EA355C"/>
              </a:buClr>
            </a:lvl4pPr>
            <a:lvl5pPr>
              <a:buClr>
                <a:srgbClr val="EA355C"/>
              </a:buCl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104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724210"/>
            <a:ext cx="20955000" cy="54579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b="1" i="0" cap="all" spc="180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r>
              <a:rPr dirty="0"/>
              <a:t>Text</a:t>
            </a:r>
          </a:p>
        </p:txBody>
      </p:sp>
      <p:sp>
        <p:nvSpPr>
          <p:cNvPr id="105" name="Black and white photo of windmills under a cloudy sky"/>
          <p:cNvSpPr>
            <a:spLocks noGrp="1"/>
          </p:cNvSpPr>
          <p:nvPr>
            <p:ph type="pic" idx="22"/>
          </p:nvPr>
        </p:nvSpPr>
        <p:spPr>
          <a:xfrm>
            <a:off x="132588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6" name="Title 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 marL="635000" indent="-635000">
              <a:buClr>
                <a:srgbClr val="EA355C"/>
              </a:buClr>
              <a:defRPr sz="4000"/>
            </a:lvl1pPr>
            <a:lvl2pPr marL="1270000" indent="-635000">
              <a:buClr>
                <a:srgbClr val="EA355C"/>
              </a:buClr>
              <a:defRPr sz="4000"/>
            </a:lvl2pPr>
            <a:lvl3pPr marL="1905000" indent="-635000">
              <a:buClr>
                <a:srgbClr val="EA355C"/>
              </a:buClr>
              <a:defRPr sz="4000"/>
            </a:lvl3pPr>
            <a:lvl4pPr marL="2540000" indent="-635000">
              <a:buClr>
                <a:srgbClr val="EA355C"/>
              </a:buClr>
              <a:defRPr sz="4000"/>
            </a:lvl4pPr>
            <a:lvl5pPr marL="3175000" indent="-635000">
              <a:buClr>
                <a:srgbClr val="EA355C"/>
              </a:buClr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Live Video Small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116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724210"/>
            <a:ext cx="20955000" cy="54579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b="1" i="0" cap="all" spc="180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r>
              <a:rPr dirty="0"/>
              <a:t>Text</a:t>
            </a:r>
          </a:p>
        </p:txBody>
      </p:sp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 marL="635000" indent="-635000">
              <a:buClr>
                <a:srgbClr val="EA355C"/>
              </a:buClr>
              <a:defRPr sz="4000"/>
            </a:lvl1pPr>
            <a:lvl2pPr marL="1270000" indent="-635000">
              <a:buClr>
                <a:srgbClr val="EA355C"/>
              </a:buClr>
              <a:defRPr sz="4000"/>
            </a:lvl2pPr>
            <a:lvl3pPr marL="1905000" indent="-635000">
              <a:buClr>
                <a:srgbClr val="EA355C"/>
              </a:buClr>
              <a:defRPr sz="4000"/>
            </a:lvl3pPr>
            <a:lvl4pPr marL="2540000" indent="-635000">
              <a:buClr>
                <a:srgbClr val="EA355C"/>
              </a:buClr>
              <a:defRPr sz="4000"/>
            </a:lvl4pPr>
            <a:lvl5pPr marL="3175000" indent="-635000">
              <a:buClr>
                <a:srgbClr val="EA355C"/>
              </a:buClr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Live Video Large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127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724210"/>
            <a:ext cx="20955000" cy="54579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b="1" i="0" cap="all" spc="180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r>
              <a:rPr dirty="0"/>
              <a:t>Text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nton" pitchFamily="2" charset="7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 marL="635000" indent="-635000">
              <a:buClr>
                <a:srgbClr val="EA355C"/>
              </a:buClr>
              <a:defRPr sz="4000"/>
            </a:lvl1pPr>
            <a:lvl2pPr marL="1270000" indent="-635000">
              <a:buClr>
                <a:srgbClr val="EA355C"/>
              </a:buClr>
              <a:defRPr sz="4000"/>
            </a:lvl2pPr>
            <a:lvl3pPr marL="1905000" indent="-635000">
              <a:buClr>
                <a:srgbClr val="EA355C"/>
              </a:buClr>
              <a:defRPr sz="4000"/>
            </a:lvl3pPr>
            <a:lvl4pPr marL="2540000" indent="-635000">
              <a:buClr>
                <a:srgbClr val="EA355C"/>
              </a:buClr>
              <a:defRPr sz="4000"/>
            </a:lvl4pPr>
            <a:lvl5pPr marL="3175000" indent="-635000">
              <a:buClr>
                <a:srgbClr val="EA355C"/>
              </a:buClr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138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724210"/>
            <a:ext cx="20955000" cy="54579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b="1" i="0" cap="all" spc="180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r>
              <a:rPr dirty="0"/>
              <a:t>Text</a:t>
            </a:r>
          </a:p>
        </p:txBody>
      </p:sp>
      <p:sp>
        <p:nvSpPr>
          <p:cNvPr id="13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EA355C"/>
              </a:buClr>
              <a:buSzPct val="125000"/>
            </a:lvl1pPr>
            <a:lvl2pPr>
              <a:buClr>
                <a:srgbClr val="EA355C"/>
              </a:buClr>
              <a:buSzPct val="125000"/>
            </a:lvl2pPr>
            <a:lvl3pPr>
              <a:buClr>
                <a:srgbClr val="EA355C"/>
              </a:buClr>
              <a:buSzPct val="125000"/>
            </a:lvl3pPr>
            <a:lvl4pPr>
              <a:buClr>
                <a:srgbClr val="EA355C"/>
              </a:buClr>
              <a:buSzPct val="125000"/>
            </a:lvl4pPr>
            <a:lvl5pPr>
              <a:buClr>
                <a:srgbClr val="EA355C"/>
              </a:buClr>
              <a:buSzPct val="125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Black and white photo of a solar panel"/>
          <p:cNvSpPr>
            <a:spLocks noGrp="1"/>
          </p:cNvSpPr>
          <p:nvPr>
            <p:ph type="pic" sz="half" idx="21"/>
          </p:nvPr>
        </p:nvSpPr>
        <p:spPr>
          <a:xfrm>
            <a:off x="12192000" y="-177800"/>
            <a:ext cx="12192000" cy="7162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8" name="Black and white photo of water flowing over the spillway gates of a dam"/>
          <p:cNvSpPr>
            <a:spLocks noGrp="1"/>
          </p:cNvSpPr>
          <p:nvPr>
            <p:ph type="pic" sz="half" idx="22"/>
          </p:nvPr>
        </p:nvSpPr>
        <p:spPr>
          <a:xfrm>
            <a:off x="12192000" y="6451600"/>
            <a:ext cx="12192000" cy="82973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9" name="Black and white photo of windmills under a cloudy sky"/>
          <p:cNvSpPr>
            <a:spLocks noGrp="1"/>
          </p:cNvSpPr>
          <p:nvPr>
            <p:ph type="pic" idx="23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158" name="Callout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rgbClr val="EA355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latin typeface="+mn-lt"/>
                <a:ea typeface="+mn-ea"/>
                <a:cs typeface="+mn-cs"/>
                <a:sym typeface="DIN Condensed Bold"/>
              </a:defRPr>
            </a:pPr>
            <a:endParaRPr b="0" i="0" dirty="0">
              <a:latin typeface="Anton" pitchFamily="2" charset="77"/>
            </a:endParaRPr>
          </a:p>
        </p:txBody>
      </p:sp>
      <p:sp>
        <p:nvSpPr>
          <p:cNvPr id="159" name="Type a quote here."/>
          <p:cNvSpPr txBox="1">
            <a:spLocks noGrp="1"/>
          </p:cNvSpPr>
          <p:nvPr>
            <p:ph type="body" sz="quarter" idx="2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b="0" i="0" cap="all">
                <a:latin typeface="Anton" pitchFamily="2" charset="77"/>
                <a:ea typeface="+mn-ea"/>
                <a:cs typeface="+mn-cs"/>
                <a:sym typeface="DIN Condensed Bold"/>
              </a:defRPr>
            </a:lvl1pPr>
          </a:lstStyle>
          <a:p>
            <a:r>
              <a:rPr dirty="0"/>
              <a:t>Type a quote here.</a:t>
            </a:r>
          </a:p>
        </p:txBody>
      </p:sp>
      <p:sp>
        <p:nvSpPr>
          <p:cNvPr id="160" name="Johnny Appleseed"/>
          <p:cNvSpPr txBox="1">
            <a:spLocks noGrp="1"/>
          </p:cNvSpPr>
          <p:nvPr>
            <p:ph type="body" sz="quarter" idx="22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 b="0" i="0">
                <a:solidFill>
                  <a:srgbClr val="838787"/>
                </a:solidFill>
                <a:latin typeface="Anton" pitchFamily="2" charset="77"/>
                <a:ea typeface="+mn-ea"/>
                <a:cs typeface="+mn-cs"/>
                <a:sym typeface="DIN Condensed Bold"/>
              </a:defRPr>
            </a:lvl1pPr>
          </a:lstStyle>
          <a:p>
            <a:r>
              <a:rPr dirty="0"/>
              <a:t>Johnny Appleseed</a:t>
            </a:r>
          </a:p>
        </p:txBody>
      </p:sp>
      <p:sp>
        <p:nvSpPr>
          <p:cNvPr id="161" name="Text"/>
          <p:cNvSpPr txBox="1">
            <a:spLocks noGrp="1"/>
          </p:cNvSpPr>
          <p:nvPr>
            <p:ph type="body" sz="quarter" idx="23"/>
          </p:nvPr>
        </p:nvSpPr>
        <p:spPr>
          <a:xfrm>
            <a:off x="762000" y="724210"/>
            <a:ext cx="20955000" cy="54579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b="1" i="0" cap="all" spc="180"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r>
              <a:rPr dirty="0"/>
              <a:t>Text</a:t>
            </a:r>
          </a:p>
        </p:txBody>
      </p:sp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Black and white aerial photo of a person standing on top of a dam"/>
          <p:cNvSpPr>
            <a:spLocks noGrp="1"/>
          </p:cNvSpPr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061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502F51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b="0" i="0" dirty="0">
              <a:latin typeface="Montserrat" pitchFamily="2" charset="77"/>
            </a:endParaRP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878673" y="609600"/>
            <a:ext cx="734175" cy="5457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 b="1" i="0">
                <a:solidFill>
                  <a:srgbClr val="838787"/>
                </a:solidFill>
                <a:latin typeface="Barlow" pitchFamily="2" charset="77"/>
                <a:ea typeface="Barlow" pitchFamily="2" charset="77"/>
                <a:cs typeface="Barlow" pitchFamily="2" charset="77"/>
                <a:sym typeface="DIN Alternate Bold"/>
              </a:defRPr>
            </a:lvl1pPr>
          </a:lstStyle>
          <a:p>
            <a:fld id="{86CB4B4D-7CA3-9044-876B-883B54F8677D}" type="slidenum">
              <a:rPr lang="en-CA" smtClean="0"/>
              <a:pPr/>
              <a:t>‹#›</a:t>
            </a:fld>
            <a:endParaRPr lang="en-CA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  <p:sldLayoutId id="2147483667" r:id="rId18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FF0659"/>
          </a:solidFill>
          <a:uFillTx/>
          <a:latin typeface="Anton" pitchFamily="2" charset="77"/>
          <a:ea typeface="+mn-ea"/>
          <a:cs typeface="+mn-cs"/>
          <a:sym typeface="DIN Condensed Bold"/>
        </a:defRPr>
      </a:lvl1pPr>
      <a:lvl2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EA355C"/>
          </a:solidFill>
          <a:uFillTx/>
          <a:latin typeface="+mn-lt"/>
          <a:ea typeface="+mn-ea"/>
          <a:cs typeface="+mn-cs"/>
          <a:sym typeface="DIN Condensed Bold"/>
        </a:defRPr>
      </a:lvl2pPr>
      <a:lvl3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EA355C"/>
          </a:solidFill>
          <a:uFillTx/>
          <a:latin typeface="+mn-lt"/>
          <a:ea typeface="+mn-ea"/>
          <a:cs typeface="+mn-cs"/>
          <a:sym typeface="DIN Condensed Bold"/>
        </a:defRPr>
      </a:lvl3pPr>
      <a:lvl4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EA355C"/>
          </a:solidFill>
          <a:uFillTx/>
          <a:latin typeface="+mn-lt"/>
          <a:ea typeface="+mn-ea"/>
          <a:cs typeface="+mn-cs"/>
          <a:sym typeface="DIN Condensed Bold"/>
        </a:defRPr>
      </a:lvl4pPr>
      <a:lvl5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EA355C"/>
          </a:solidFill>
          <a:uFillTx/>
          <a:latin typeface="+mn-lt"/>
          <a:ea typeface="+mn-ea"/>
          <a:cs typeface="+mn-cs"/>
          <a:sym typeface="DIN Condensed Bold"/>
        </a:defRPr>
      </a:lvl5pPr>
      <a:lvl6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EA355C"/>
          </a:solidFill>
          <a:uFillTx/>
          <a:latin typeface="+mn-lt"/>
          <a:ea typeface="+mn-ea"/>
          <a:cs typeface="+mn-cs"/>
          <a:sym typeface="DIN Condensed Bold"/>
        </a:defRPr>
      </a:lvl6pPr>
      <a:lvl7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EA355C"/>
          </a:solidFill>
          <a:uFillTx/>
          <a:latin typeface="+mn-lt"/>
          <a:ea typeface="+mn-ea"/>
          <a:cs typeface="+mn-cs"/>
          <a:sym typeface="DIN Condensed Bold"/>
        </a:defRPr>
      </a:lvl7pPr>
      <a:lvl8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EA355C"/>
          </a:solidFill>
          <a:uFillTx/>
          <a:latin typeface="+mn-lt"/>
          <a:ea typeface="+mn-ea"/>
          <a:cs typeface="+mn-cs"/>
          <a:sym typeface="DIN Condensed Bold"/>
        </a:defRPr>
      </a:lvl8pPr>
      <a:lvl9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rgbClr val="EA355C"/>
          </a:solidFill>
          <a:uFillTx/>
          <a:latin typeface="+mn-lt"/>
          <a:ea typeface="+mn-ea"/>
          <a:cs typeface="+mn-cs"/>
          <a:sym typeface="DIN Condensed Bold"/>
        </a:defRPr>
      </a:lvl9pPr>
    </p:titleStyle>
    <p:bodyStyle>
      <a:lvl1pPr marL="762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Avenir Next Medium"/>
        </a:defRPr>
      </a:lvl1pPr>
      <a:lvl2pPr marL="1397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Avenir Next Medium"/>
        </a:defRPr>
      </a:lvl2pPr>
      <a:lvl3pPr marL="2032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Avenir Next Medium"/>
        </a:defRPr>
      </a:lvl3pPr>
      <a:lvl4pPr marL="2667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Avenir Next Medium"/>
        </a:defRPr>
      </a:lvl4pPr>
      <a:lvl5pPr marL="3302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Avenir Next Medium"/>
        </a:defRPr>
      </a:lvl5pPr>
      <a:lvl6pPr marL="3937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572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207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842000" marR="0" indent="-762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▸"/>
        <a:tabLst/>
        <a:defRPr sz="4800" b="0" i="0" u="none" strike="noStrike" cap="none" spc="0" baseline="0">
          <a:solidFill>
            <a:srgbClr val="FFFFFF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.sv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24" Type="http://schemas.openxmlformats.org/officeDocument/2006/relationships/hyperlink" Target="https://creativecommons.org/licenses/by-sa/4.0/" TargetMode="External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hyperlink" Target="https://owaspsamm.org/" TargetMode="External"/><Relationship Id="rId10" Type="http://schemas.openxmlformats.org/officeDocument/2006/relationships/image" Target="../media/image21.svg"/><Relationship Id="rId19" Type="http://schemas.openxmlformats.org/officeDocument/2006/relationships/image" Target="../media/image30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3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31.sv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2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29.sv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26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10" Type="http://schemas.openxmlformats.org/officeDocument/2006/relationships/image" Target="../media/image61.svg"/><Relationship Id="rId4" Type="http://schemas.openxmlformats.org/officeDocument/2006/relationships/image" Target="../media/image27.sv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24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25.svg"/><Relationship Id="rId9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7.sv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24" Type="http://schemas.openxmlformats.org/officeDocument/2006/relationships/hyperlink" Target="https://creativecommons.org/licenses/by-sa/4.0/" TargetMode="External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hyperlink" Target="https://owaspsamm.org/" TargetMode="External"/><Relationship Id="rId10" Type="http://schemas.openxmlformats.org/officeDocument/2006/relationships/image" Target="../media/image21.svg"/><Relationship Id="rId19" Type="http://schemas.openxmlformats.org/officeDocument/2006/relationships/image" Target="../media/image30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rivacy Components That Should Actually Matter to Development Team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defTabSz="363220">
              <a:defRPr sz="13331"/>
            </a:pPr>
            <a:r>
              <a:rPr sz="10000" dirty="0"/>
              <a:t>Privacy Components That Should Actually Matter to Development Teams</a:t>
            </a:r>
          </a:p>
        </p:txBody>
      </p:sp>
      <p:sp>
        <p:nvSpPr>
          <p:cNvPr id="204" name="OWASP TORONTO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OWASP TORONTO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5F7A6-B711-8A57-34FF-DAE0D0DAB025}"/>
              </a:ext>
            </a:extLst>
          </p:cNvPr>
          <p:cNvSpPr txBox="1"/>
          <p:nvPr/>
        </p:nvSpPr>
        <p:spPr>
          <a:xfrm>
            <a:off x="19044546" y="12657861"/>
            <a:ext cx="5169684" cy="8797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r"/>
            <a:r>
              <a:rPr lang="en-US" sz="1800" dirty="0">
                <a:latin typeface="Epilogue Medium" pitchFamily="2" charset="77"/>
              </a:rPr>
              <a:t>This work is licensed under </a:t>
            </a:r>
            <a:r>
              <a:rPr lang="en-US" sz="1800" dirty="0">
                <a:solidFill>
                  <a:srgbClr val="FF0659"/>
                </a:solidFill>
                <a:latin typeface="Epilogue Medium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BY-NC-SA 4.0</a:t>
            </a:r>
            <a:r>
              <a:rPr lang="en-US" sz="1800" dirty="0">
                <a:solidFill>
                  <a:srgbClr val="FF0659"/>
                </a:solidFill>
                <a:latin typeface="Epilogue Medium" pitchFamily="2" charset="77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Ross_Headshots-32.jpeg"/>
          <p:cNvPicPr>
            <a:picLocks noGrp="1" noChangeAspect="1"/>
          </p:cNvPicPr>
          <p:nvPr>
            <p:ph type="pic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207" name="Ross Saunders"/>
          <p:cNvSpPr txBox="1">
            <a:spLocks noGrp="1"/>
          </p:cNvSpPr>
          <p:nvPr>
            <p:ph type="title"/>
          </p:nvPr>
        </p:nvSpPr>
        <p:spPr>
          <a:xfrm>
            <a:off x="11049000" y="9210843"/>
            <a:ext cx="12573000" cy="3810000"/>
          </a:xfrm>
          <a:prstGeom prst="rect">
            <a:avLst/>
          </a:prstGeom>
        </p:spPr>
        <p:txBody>
          <a:bodyPr>
            <a:noAutofit/>
          </a:bodyPr>
          <a:lstStyle>
            <a:lvl1pPr defTabSz="511809">
              <a:defRPr sz="18786"/>
            </a:lvl1pPr>
          </a:lstStyle>
          <a:p>
            <a:r>
              <a:rPr sz="14100" dirty="0"/>
              <a:t>Ross Saunders</a:t>
            </a:r>
          </a:p>
        </p:txBody>
      </p:sp>
      <p:sp>
        <p:nvSpPr>
          <p:cNvPr id="208" name="A bit of background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A" dirty="0"/>
              <a:t>NERD WITH TRUST ISSUES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A Bit of Background"/>
          <p:cNvSpPr txBox="1">
            <a:spLocks noGrp="1"/>
          </p:cNvSpPr>
          <p:nvPr>
            <p:ph type="title"/>
          </p:nvPr>
        </p:nvSpPr>
        <p:spPr>
          <a:xfrm>
            <a:off x="761999" y="6858000"/>
            <a:ext cx="22860001" cy="3810000"/>
          </a:xfrm>
          <a:prstGeom prst="rect">
            <a:avLst/>
          </a:prstGeom>
        </p:spPr>
        <p:txBody>
          <a:bodyPr>
            <a:noAutofit/>
          </a:bodyPr>
          <a:lstStyle>
            <a:lvl1pPr defTabSz="701675">
              <a:defRPr sz="25755"/>
            </a:lvl1pPr>
          </a:lstStyle>
          <a:p>
            <a:r>
              <a:rPr sz="19300" dirty="0"/>
              <a:t>A Bit of Background</a:t>
            </a:r>
          </a:p>
        </p:txBody>
      </p:sp>
      <p:sp>
        <p:nvSpPr>
          <p:cNvPr id="211" name="Context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Context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on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Context</a:t>
            </a:r>
          </a:p>
        </p:txBody>
      </p:sp>
      <p:pic>
        <p:nvPicPr>
          <p:cNvPr id="216" name="Black and white photo of windmills under a cloudy sky" descr="Black and white photo of windmills under a cloudy sky"/>
          <p:cNvPicPr>
            <a:picLocks noGrp="1" noChangeAspect="1"/>
          </p:cNvPicPr>
          <p:nvPr>
            <p:ph type="pic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335000" y="2159000"/>
            <a:ext cx="10287000" cy="10795000"/>
          </a:xfrm>
          <a:prstGeom prst="rect">
            <a:avLst/>
          </a:prstGeom>
        </p:spPr>
      </p:pic>
      <p:sp>
        <p:nvSpPr>
          <p:cNvPr id="217" name="The OECD Privacy Princi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dirty="0"/>
              <a:t>The OECD Privacy Principles</a:t>
            </a:r>
          </a:p>
        </p:txBody>
      </p:sp>
      <p:sp>
        <p:nvSpPr>
          <p:cNvPr id="218" name="Collection Limitation Principle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590550" indent="-590550" defTabSz="767715">
              <a:spcBef>
                <a:spcPts val="3600"/>
              </a:spcBef>
              <a:defRPr sz="3720"/>
            </a:pPr>
            <a:r>
              <a:rPr lang="en-CA" dirty="0"/>
              <a:t>Accountability Principle</a:t>
            </a:r>
          </a:p>
          <a:p>
            <a:pPr marL="590550" indent="-590550" defTabSz="767715">
              <a:spcBef>
                <a:spcPts val="3600"/>
              </a:spcBef>
              <a:defRPr sz="3720"/>
            </a:pPr>
            <a:r>
              <a:rPr lang="en-CA" dirty="0"/>
              <a:t>Purpose Specification Principle</a:t>
            </a:r>
          </a:p>
          <a:p>
            <a:pPr marL="590550" indent="-590550" defTabSz="767715">
              <a:spcBef>
                <a:spcPts val="3600"/>
              </a:spcBef>
              <a:defRPr sz="3720"/>
            </a:pPr>
            <a:r>
              <a:rPr lang="en-CA" dirty="0"/>
              <a:t>Use Limitation Principle</a:t>
            </a:r>
          </a:p>
          <a:p>
            <a:pPr marL="590550" indent="-590550" defTabSz="767715">
              <a:spcBef>
                <a:spcPts val="3600"/>
              </a:spcBef>
              <a:defRPr sz="3720"/>
            </a:pPr>
            <a:r>
              <a:rPr dirty="0"/>
              <a:t>Collection Limitation Principle</a:t>
            </a:r>
          </a:p>
          <a:p>
            <a:pPr marL="590550" indent="-590550" defTabSz="767715">
              <a:spcBef>
                <a:spcPts val="3600"/>
              </a:spcBef>
              <a:defRPr sz="3720"/>
            </a:pPr>
            <a:r>
              <a:rPr dirty="0"/>
              <a:t>Data Quality Principle</a:t>
            </a:r>
          </a:p>
          <a:p>
            <a:pPr marL="590550" indent="-590550" defTabSz="767715">
              <a:spcBef>
                <a:spcPts val="3600"/>
              </a:spcBef>
              <a:defRPr sz="3720"/>
            </a:pPr>
            <a:r>
              <a:rPr dirty="0"/>
              <a:t>Security Safeguards Principle</a:t>
            </a:r>
          </a:p>
          <a:p>
            <a:pPr marL="590550" indent="-590550" defTabSz="767715">
              <a:spcBef>
                <a:spcPts val="3600"/>
              </a:spcBef>
              <a:defRPr sz="3720"/>
            </a:pPr>
            <a:r>
              <a:rPr dirty="0"/>
              <a:t>Openness Principle</a:t>
            </a:r>
          </a:p>
          <a:p>
            <a:pPr marL="590550" indent="-590550" defTabSz="767715">
              <a:spcBef>
                <a:spcPts val="3600"/>
              </a:spcBef>
              <a:defRPr sz="3720"/>
            </a:pPr>
            <a:r>
              <a:rPr dirty="0"/>
              <a:t>Individual Participation Principle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uiExpan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on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Context</a:t>
            </a:r>
          </a:p>
        </p:txBody>
      </p:sp>
      <p:sp>
        <p:nvSpPr>
          <p:cNvPr id="221" name="Comparison of Common Global Law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dirty="0"/>
              <a:t>Comparison of </a:t>
            </a:r>
            <a:r>
              <a:rPr lang="en-CA" dirty="0"/>
              <a:t>FOUR LETTER WORDS</a:t>
            </a:r>
            <a:endParaRPr dirty="0"/>
          </a:p>
        </p:txBody>
      </p:sp>
      <p:graphicFrame>
        <p:nvGraphicFramePr>
          <p:cNvPr id="222" name="Table 1"/>
          <p:cNvGraphicFramePr/>
          <p:nvPr>
            <p:extLst>
              <p:ext uri="{D42A27DB-BD31-4B8C-83A1-F6EECF244321}">
                <p14:modId xmlns:p14="http://schemas.microsoft.com/office/powerpoint/2010/main" val="3758073369"/>
              </p:ext>
            </p:extLst>
          </p:nvPr>
        </p:nvGraphicFramePr>
        <p:xfrm>
          <a:off x="851807" y="3924299"/>
          <a:ext cx="22859996" cy="857250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5714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14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5200" b="1" i="0" dirty="0">
                          <a:solidFill>
                            <a:srgbClr val="FFFFFF"/>
                          </a:solidFill>
                          <a:latin typeface="Montserrat SemiBold" pitchFamily="2" charset="77"/>
                          <a:sym typeface="Avenir Next Demi Bold"/>
                        </a:rPr>
                        <a:t>Canada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5200" b="1" i="0" dirty="0">
                          <a:solidFill>
                            <a:srgbClr val="FFFFFF"/>
                          </a:solidFill>
                          <a:latin typeface="Montserrat SemiBold" pitchFamily="2" charset="77"/>
                          <a:sym typeface="Avenir Next Demi Bold"/>
                        </a:rPr>
                        <a:t>USA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5200" b="1" i="0" dirty="0">
                          <a:solidFill>
                            <a:srgbClr val="FFFFFF"/>
                          </a:solidFill>
                          <a:latin typeface="Montserrat SemiBold" pitchFamily="2" charset="77"/>
                          <a:sym typeface="Avenir Next Demi Bold"/>
                        </a:rPr>
                        <a:t>EU/UK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5200" b="1" i="0" dirty="0">
                          <a:solidFill>
                            <a:srgbClr val="FFFFFF"/>
                          </a:solidFill>
                          <a:latin typeface="Montserrat SemiBold" pitchFamily="2" charset="77"/>
                          <a:sym typeface="Avenir Next Demi Bold"/>
                        </a:rPr>
                        <a:t>BRICS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PIPEDA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CCPA/CPRA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EU GDPR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LGPD (BR)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Law 25 (QB)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State Specific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 err="1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ePrivacy</a:t>
                      </a:r>
                      <a:endParaRPr sz="5200" b="0" i="0" dirty="0">
                        <a:solidFill>
                          <a:schemeClr val="tx1"/>
                        </a:solidFill>
                        <a:latin typeface="Montserrat" pitchFamily="2" charset="77"/>
                        <a:sym typeface="Avenir Next Medium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PIPL (CN)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PIPA (BC)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Consumer Watchdogs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UK GDPR + DPA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POPIA (ZA)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PIPA (AB)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Predatory Lawyers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PECR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5200" b="0" i="0" dirty="0">
                          <a:solidFill>
                            <a:schemeClr val="tx1"/>
                          </a:solidFill>
                          <a:latin typeface="Montserrat" pitchFamily="2" charset="77"/>
                          <a:sym typeface="Avenir Next Medium"/>
                        </a:rPr>
                        <a:t>Russia Challenges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on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Context</a:t>
            </a:r>
          </a:p>
        </p:txBody>
      </p:sp>
      <p:sp>
        <p:nvSpPr>
          <p:cNvPr id="227" name="Cookie and Consent Legislation (EU/UK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dirty="0"/>
              <a:t>Cookie and Consent Legislation (EU/UK</a:t>
            </a:r>
            <a:r>
              <a:rPr lang="en-CA" dirty="0"/>
              <a:t>/QUEBEC</a:t>
            </a:r>
            <a:r>
              <a:rPr dirty="0"/>
              <a:t>)</a:t>
            </a:r>
          </a:p>
        </p:txBody>
      </p:sp>
      <p:sp>
        <p:nvSpPr>
          <p:cNvPr id="228" name="Specifically refer to Cookies AND SIMILAR TECHNOLOGI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Specifically refer to Cookies </a:t>
            </a:r>
            <a:r>
              <a:rPr dirty="0">
                <a:latin typeface="Montserrat" pitchFamily="2" charset="77"/>
                <a:ea typeface="Avenir Next Regular"/>
                <a:cs typeface="Avenir Next Regular"/>
                <a:sym typeface="Avenir Next Regular"/>
              </a:rPr>
              <a:t>AND SIMILAR TECHNOLOGIES</a:t>
            </a:r>
            <a:r>
              <a:rPr lang="en-CA" dirty="0">
                <a:latin typeface="Montserrat" pitchFamily="2" charset="77"/>
                <a:ea typeface="Avenir Next Regular"/>
                <a:cs typeface="Avenir Next Regular"/>
                <a:sym typeface="Avenir Next Regular"/>
              </a:rPr>
              <a:t> (EU/UK),</a:t>
            </a:r>
            <a:br>
              <a:rPr lang="en-CA" dirty="0">
                <a:latin typeface="Montserrat" pitchFamily="2" charset="77"/>
                <a:ea typeface="Avenir Next Regular"/>
                <a:cs typeface="Avenir Next Regular"/>
                <a:sym typeface="Avenir Next Regular"/>
              </a:rPr>
            </a:br>
            <a:r>
              <a:rPr lang="en-CA" dirty="0">
                <a:latin typeface="Montserrat" pitchFamily="2" charset="77"/>
                <a:ea typeface="Avenir Next Regular"/>
                <a:cs typeface="Avenir Next Regular"/>
                <a:sym typeface="Avenir Next Regular"/>
              </a:rPr>
              <a:t>or ANY profiling (QB)</a:t>
            </a:r>
            <a:endParaRPr dirty="0">
              <a:latin typeface="Montserrat" pitchFamily="2" charset="77"/>
              <a:ea typeface="Avenir Next Regular"/>
              <a:cs typeface="Avenir Next Regular"/>
              <a:sym typeface="Avenir Next Regular"/>
            </a:endParaRPr>
          </a:p>
          <a:p>
            <a:r>
              <a:rPr dirty="0"/>
              <a:t>Anything storing to device cache or browser storage qualifies</a:t>
            </a:r>
          </a:p>
          <a:p>
            <a:pPr lvl="1"/>
            <a:r>
              <a:rPr dirty="0"/>
              <a:t>First party, Third party</a:t>
            </a:r>
          </a:p>
          <a:p>
            <a:pPr lvl="1"/>
            <a:r>
              <a:rPr dirty="0"/>
              <a:t>Strictly Necessary</a:t>
            </a:r>
          </a:p>
          <a:p>
            <a:pPr lvl="1"/>
            <a:r>
              <a:rPr dirty="0"/>
              <a:t>Analytics and Performance</a:t>
            </a:r>
          </a:p>
          <a:p>
            <a:pPr lvl="1"/>
            <a:r>
              <a:rPr dirty="0"/>
              <a:t>Targeting</a:t>
            </a:r>
          </a:p>
        </p:txBody>
      </p:sp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797288">
            <a:off x="17361377" y="9533339"/>
            <a:ext cx="9167718" cy="5825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on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Context</a:t>
            </a:r>
          </a:p>
        </p:txBody>
      </p:sp>
      <p:sp>
        <p:nvSpPr>
          <p:cNvPr id="238" name="Data is not just “Sensitive”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dirty="0"/>
              <a:t>Data is not just “Sensitive”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F156408E-5714-0A57-5797-CBA129C5B3E8}"/>
              </a:ext>
            </a:extLst>
          </p:cNvPr>
          <p:cNvSpPr/>
          <p:nvPr/>
        </p:nvSpPr>
        <p:spPr>
          <a:xfrm>
            <a:off x="10020587" y="2997582"/>
            <a:ext cx="4342825" cy="3836832"/>
          </a:xfrm>
          <a:custGeom>
            <a:avLst/>
            <a:gdLst>
              <a:gd name="connsiteX0" fmla="*/ 2167432 w 4342825"/>
              <a:gd name="connsiteY0" fmla="*/ 0 h 3836832"/>
              <a:gd name="connsiteX1" fmla="*/ 4342825 w 4342825"/>
              <a:gd name="connsiteY1" fmla="*/ 2179445 h 3836832"/>
              <a:gd name="connsiteX2" fmla="*/ 3196076 w 4342825"/>
              <a:gd name="connsiteY2" fmla="*/ 3836832 h 3836832"/>
              <a:gd name="connsiteX3" fmla="*/ 3130926 w 4342825"/>
              <a:gd name="connsiteY3" fmla="*/ 3797252 h 3836832"/>
              <a:gd name="connsiteX4" fmla="*/ 2167432 w 4342825"/>
              <a:gd name="connsiteY4" fmla="*/ 3553287 h 3836832"/>
              <a:gd name="connsiteX5" fmla="*/ 1203938 w 4342825"/>
              <a:gd name="connsiteY5" fmla="*/ 3797252 h 3836832"/>
              <a:gd name="connsiteX6" fmla="*/ 1143466 w 4342825"/>
              <a:gd name="connsiteY6" fmla="*/ 3833990 h 3836832"/>
              <a:gd name="connsiteX7" fmla="*/ 0 w 4342825"/>
              <a:gd name="connsiteY7" fmla="*/ 2171469 h 3836832"/>
              <a:gd name="connsiteX8" fmla="*/ 2167432 w 4342825"/>
              <a:gd name="connsiteY8" fmla="*/ 0 h 38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2825" h="3836832">
                <a:moveTo>
                  <a:pt x="2167432" y="0"/>
                </a:moveTo>
                <a:lnTo>
                  <a:pt x="4342825" y="2179445"/>
                </a:lnTo>
                <a:lnTo>
                  <a:pt x="3196076" y="3836832"/>
                </a:lnTo>
                <a:lnTo>
                  <a:pt x="3130926" y="3797252"/>
                </a:lnTo>
                <a:cubicBezTo>
                  <a:pt x="2844515" y="3641665"/>
                  <a:pt x="2516294" y="3553287"/>
                  <a:pt x="2167432" y="3553287"/>
                </a:cubicBezTo>
                <a:cubicBezTo>
                  <a:pt x="1818570" y="3553287"/>
                  <a:pt x="1490349" y="3641665"/>
                  <a:pt x="1203938" y="3797252"/>
                </a:cubicBezTo>
                <a:lnTo>
                  <a:pt x="1143466" y="3833990"/>
                </a:lnTo>
                <a:lnTo>
                  <a:pt x="0" y="2171469"/>
                </a:lnTo>
                <a:lnTo>
                  <a:pt x="2167432" y="0"/>
                </a:lnTo>
                <a:close/>
              </a:path>
            </a:pathLst>
          </a:custGeom>
          <a:solidFill>
            <a:srgbClr val="FF06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14D33D3-974D-8F38-B08A-350A12D23B4A}"/>
              </a:ext>
            </a:extLst>
          </p:cNvPr>
          <p:cNvSpPr/>
          <p:nvPr/>
        </p:nvSpPr>
        <p:spPr>
          <a:xfrm>
            <a:off x="7190913" y="5300894"/>
            <a:ext cx="3797804" cy="4347993"/>
          </a:xfrm>
          <a:custGeom>
            <a:avLst/>
            <a:gdLst>
              <a:gd name="connsiteX0" fmla="*/ 2665085 w 3797804"/>
              <a:gd name="connsiteY0" fmla="*/ 0 h 4347993"/>
              <a:gd name="connsiteX1" fmla="*/ 3797804 w 3797804"/>
              <a:gd name="connsiteY1" fmla="*/ 1646897 h 4347993"/>
              <a:gd name="connsiteX2" fmla="*/ 3711341 w 3797804"/>
              <a:gd name="connsiteY2" fmla="*/ 1711553 h 4347993"/>
              <a:gd name="connsiteX3" fmla="*/ 2975759 w 3797804"/>
              <a:gd name="connsiteY3" fmla="*/ 3271321 h 4347993"/>
              <a:gd name="connsiteX4" fmla="*/ 3016826 w 3797804"/>
              <a:gd name="connsiteY4" fmla="*/ 3678693 h 4347993"/>
              <a:gd name="connsiteX5" fmla="*/ 3037068 w 3797804"/>
              <a:gd name="connsiteY5" fmla="*/ 3757418 h 4347993"/>
              <a:gd name="connsiteX6" fmla="*/ 1292243 w 3797804"/>
              <a:gd name="connsiteY6" fmla="*/ 4347993 h 4347993"/>
              <a:gd name="connsiteX7" fmla="*/ 0 w 3797804"/>
              <a:gd name="connsiteY7" fmla="*/ 1514136 h 4347993"/>
              <a:gd name="connsiteX8" fmla="*/ 2665085 w 3797804"/>
              <a:gd name="connsiteY8" fmla="*/ 0 h 434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7804" h="4347993">
                <a:moveTo>
                  <a:pt x="2665085" y="0"/>
                </a:moveTo>
                <a:lnTo>
                  <a:pt x="3797804" y="1646897"/>
                </a:lnTo>
                <a:lnTo>
                  <a:pt x="3711341" y="1711553"/>
                </a:lnTo>
                <a:cubicBezTo>
                  <a:pt x="3262103" y="2082298"/>
                  <a:pt x="2975759" y="2643370"/>
                  <a:pt x="2975759" y="3271321"/>
                </a:cubicBezTo>
                <a:cubicBezTo>
                  <a:pt x="2975759" y="3410866"/>
                  <a:pt x="2989899" y="3547108"/>
                  <a:pt x="3016826" y="3678693"/>
                </a:cubicBezTo>
                <a:lnTo>
                  <a:pt x="3037068" y="3757418"/>
                </a:lnTo>
                <a:lnTo>
                  <a:pt x="1292243" y="4347993"/>
                </a:lnTo>
                <a:lnTo>
                  <a:pt x="0" y="1514136"/>
                </a:lnTo>
                <a:lnTo>
                  <a:pt x="2665085" y="0"/>
                </a:lnTo>
                <a:close/>
              </a:path>
            </a:pathLst>
          </a:cu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34FF735-0911-75C7-6FB0-974AB601BAC6}"/>
              </a:ext>
            </a:extLst>
          </p:cNvPr>
          <p:cNvSpPr/>
          <p:nvPr/>
        </p:nvSpPr>
        <p:spPr>
          <a:xfrm>
            <a:off x="13391707" y="5306370"/>
            <a:ext cx="3793416" cy="4342028"/>
          </a:xfrm>
          <a:custGeom>
            <a:avLst/>
            <a:gdLst>
              <a:gd name="connsiteX0" fmla="*/ 1137971 w 3793416"/>
              <a:gd name="connsiteY0" fmla="*/ 0 h 4342028"/>
              <a:gd name="connsiteX1" fmla="*/ 3793416 w 3793416"/>
              <a:gd name="connsiteY1" fmla="*/ 1508659 h 4342028"/>
              <a:gd name="connsiteX2" fmla="*/ 2501395 w 3793416"/>
              <a:gd name="connsiteY2" fmla="*/ 4342028 h 4342028"/>
              <a:gd name="connsiteX3" fmla="*/ 756418 w 3793416"/>
              <a:gd name="connsiteY3" fmla="*/ 3751669 h 4342028"/>
              <a:gd name="connsiteX4" fmla="*/ 776590 w 3793416"/>
              <a:gd name="connsiteY4" fmla="*/ 3673216 h 4342028"/>
              <a:gd name="connsiteX5" fmla="*/ 817657 w 3793416"/>
              <a:gd name="connsiteY5" fmla="*/ 3265844 h 4342028"/>
              <a:gd name="connsiteX6" fmla="*/ 82075 w 3793416"/>
              <a:gd name="connsiteY6" fmla="*/ 1706076 h 4342028"/>
              <a:gd name="connsiteX7" fmla="*/ 0 w 3793416"/>
              <a:gd name="connsiteY7" fmla="*/ 1644701 h 4342028"/>
              <a:gd name="connsiteX8" fmla="*/ 1137971 w 3793416"/>
              <a:gd name="connsiteY8" fmla="*/ 0 h 4342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3416" h="4342028">
                <a:moveTo>
                  <a:pt x="1137971" y="0"/>
                </a:moveTo>
                <a:lnTo>
                  <a:pt x="3793416" y="1508659"/>
                </a:lnTo>
                <a:lnTo>
                  <a:pt x="2501395" y="4342028"/>
                </a:lnTo>
                <a:lnTo>
                  <a:pt x="756418" y="3751669"/>
                </a:lnTo>
                <a:lnTo>
                  <a:pt x="776590" y="3673216"/>
                </a:lnTo>
                <a:cubicBezTo>
                  <a:pt x="803517" y="3541631"/>
                  <a:pt x="817657" y="3405389"/>
                  <a:pt x="817657" y="3265844"/>
                </a:cubicBezTo>
                <a:cubicBezTo>
                  <a:pt x="817657" y="2637893"/>
                  <a:pt x="531313" y="2076821"/>
                  <a:pt x="82075" y="1706076"/>
                </a:cubicBezTo>
                <a:lnTo>
                  <a:pt x="0" y="1644701"/>
                </a:lnTo>
                <a:lnTo>
                  <a:pt x="1137971" y="0"/>
                </a:lnTo>
                <a:close/>
              </a:path>
            </a:pathLst>
          </a:custGeom>
          <a:solidFill>
            <a:srgbClr val="562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B49CC8B8-7D41-FC88-FD8D-36240998FD05}"/>
              </a:ext>
            </a:extLst>
          </p:cNvPr>
          <p:cNvSpPr/>
          <p:nvPr/>
        </p:nvSpPr>
        <p:spPr>
          <a:xfrm>
            <a:off x="12293175" y="9259405"/>
            <a:ext cx="3531238" cy="3732384"/>
          </a:xfrm>
          <a:custGeom>
            <a:avLst/>
            <a:gdLst>
              <a:gd name="connsiteX0" fmla="*/ 1793799 w 3531238"/>
              <a:gd name="connsiteY0" fmla="*/ 0 h 3732384"/>
              <a:gd name="connsiteX1" fmla="*/ 3531238 w 3531238"/>
              <a:gd name="connsiteY1" fmla="*/ 587808 h 3732384"/>
              <a:gd name="connsiteX2" fmla="*/ 2983224 w 3531238"/>
              <a:gd name="connsiteY2" fmla="*/ 3732384 h 3732384"/>
              <a:gd name="connsiteX3" fmla="*/ 0 w 3531238"/>
              <a:gd name="connsiteY3" fmla="*/ 3312947 h 3732384"/>
              <a:gd name="connsiteX4" fmla="*/ 0 w 3531238"/>
              <a:gd name="connsiteY4" fmla="*/ 1328844 h 3732384"/>
              <a:gd name="connsiteX5" fmla="*/ 101514 w 3531238"/>
              <a:gd name="connsiteY5" fmla="*/ 1323718 h 3732384"/>
              <a:gd name="connsiteX6" fmla="*/ 1757342 w 3531238"/>
              <a:gd name="connsiteY6" fmla="*/ 99608 h 3732384"/>
              <a:gd name="connsiteX7" fmla="*/ 1793799 w 3531238"/>
              <a:gd name="connsiteY7" fmla="*/ 0 h 373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1238" h="3732384">
                <a:moveTo>
                  <a:pt x="1793799" y="0"/>
                </a:moveTo>
                <a:lnTo>
                  <a:pt x="3531238" y="587808"/>
                </a:lnTo>
                <a:lnTo>
                  <a:pt x="2983224" y="3732384"/>
                </a:lnTo>
                <a:lnTo>
                  <a:pt x="0" y="3312947"/>
                </a:lnTo>
                <a:lnTo>
                  <a:pt x="0" y="1328844"/>
                </a:lnTo>
                <a:lnTo>
                  <a:pt x="101514" y="1323718"/>
                </a:lnTo>
                <a:cubicBezTo>
                  <a:pt x="848983" y="1247808"/>
                  <a:pt x="1476056" y="764641"/>
                  <a:pt x="1757342" y="99608"/>
                </a:cubicBezTo>
                <a:lnTo>
                  <a:pt x="17937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02A7941-51F6-DA01-DC0D-B3AF773D7968}"/>
              </a:ext>
            </a:extLst>
          </p:cNvPr>
          <p:cNvSpPr/>
          <p:nvPr/>
        </p:nvSpPr>
        <p:spPr>
          <a:xfrm>
            <a:off x="8551717" y="9259671"/>
            <a:ext cx="3531147" cy="3732119"/>
          </a:xfrm>
          <a:custGeom>
            <a:avLst/>
            <a:gdLst>
              <a:gd name="connsiteX0" fmla="*/ 1737443 w 3531147"/>
              <a:gd name="connsiteY0" fmla="*/ 0 h 3732119"/>
              <a:gd name="connsiteX1" fmla="*/ 1773803 w 3531147"/>
              <a:gd name="connsiteY1" fmla="*/ 99343 h 3732119"/>
              <a:gd name="connsiteX2" fmla="*/ 3429631 w 3531147"/>
              <a:gd name="connsiteY2" fmla="*/ 1323453 h 3732119"/>
              <a:gd name="connsiteX3" fmla="*/ 3531147 w 3531147"/>
              <a:gd name="connsiteY3" fmla="*/ 1328579 h 3732119"/>
              <a:gd name="connsiteX4" fmla="*/ 3531147 w 3531147"/>
              <a:gd name="connsiteY4" fmla="*/ 3312682 h 3732119"/>
              <a:gd name="connsiteX5" fmla="*/ 547921 w 3531147"/>
              <a:gd name="connsiteY5" fmla="*/ 3732119 h 3732119"/>
              <a:gd name="connsiteX6" fmla="*/ 0 w 3531147"/>
              <a:gd name="connsiteY6" fmla="*/ 588077 h 3732119"/>
              <a:gd name="connsiteX7" fmla="*/ 1737443 w 3531147"/>
              <a:gd name="connsiteY7" fmla="*/ 0 h 373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1147" h="3732119">
                <a:moveTo>
                  <a:pt x="1737443" y="0"/>
                </a:moveTo>
                <a:lnTo>
                  <a:pt x="1773803" y="99343"/>
                </a:lnTo>
                <a:cubicBezTo>
                  <a:pt x="2055089" y="764376"/>
                  <a:pt x="2682162" y="1247543"/>
                  <a:pt x="3429631" y="1323453"/>
                </a:cubicBezTo>
                <a:lnTo>
                  <a:pt x="3531147" y="1328579"/>
                </a:lnTo>
                <a:lnTo>
                  <a:pt x="3531147" y="3312682"/>
                </a:lnTo>
                <a:lnTo>
                  <a:pt x="547921" y="3732119"/>
                </a:lnTo>
                <a:lnTo>
                  <a:pt x="0" y="588077"/>
                </a:lnTo>
                <a:lnTo>
                  <a:pt x="1737443" y="0"/>
                </a:lnTo>
                <a:close/>
              </a:path>
            </a:pathLst>
          </a:cu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E615A4-91E3-09FD-A6FE-36D6D122EFC0}"/>
              </a:ext>
            </a:extLst>
          </p:cNvPr>
          <p:cNvSpPr txBox="1"/>
          <p:nvPr/>
        </p:nvSpPr>
        <p:spPr>
          <a:xfrm>
            <a:off x="14271391" y="2809779"/>
            <a:ext cx="4844596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3200" b="1" dirty="0">
                <a:solidFill>
                  <a:schemeClr val="tx1"/>
                </a:solidFill>
                <a:latin typeface="Barlow" pitchFamily="2" charset="77"/>
                <a:ea typeface="League Spartan" charset="0"/>
                <a:cs typeface="Poppins" pitchFamily="2" charset="77"/>
              </a:rPr>
              <a:t>PERSONAL INFORMATION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28B61F9-21D8-5D21-7C5E-9179D88E9F73}"/>
              </a:ext>
            </a:extLst>
          </p:cNvPr>
          <p:cNvSpPr txBox="1">
            <a:spLocks/>
          </p:cNvSpPr>
          <p:nvPr/>
        </p:nvSpPr>
        <p:spPr>
          <a:xfrm>
            <a:off x="14271391" y="3513370"/>
            <a:ext cx="5216353" cy="140262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Mukta ExtraLight" panose="020B0000000000000000" pitchFamily="34" charset="77"/>
              </a:rPr>
              <a:t>“PI” is any information that can form part of a profile that identifies an individual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7588ED-82BB-23B2-D67B-4B5C112F883E}"/>
              </a:ext>
            </a:extLst>
          </p:cNvPr>
          <p:cNvSpPr txBox="1"/>
          <p:nvPr/>
        </p:nvSpPr>
        <p:spPr>
          <a:xfrm>
            <a:off x="3825190" y="10672281"/>
            <a:ext cx="4333238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3200" b="1" dirty="0">
                <a:solidFill>
                  <a:schemeClr val="tx1"/>
                </a:solidFill>
                <a:latin typeface="Barlow" pitchFamily="2" charset="77"/>
                <a:ea typeface="League Spartan" charset="0"/>
                <a:cs typeface="Poppins" pitchFamily="2" charset="77"/>
              </a:rPr>
              <a:t>HEALTH INFORMATION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8260D1D-3584-7163-0F40-5FDFF37676A5}"/>
              </a:ext>
            </a:extLst>
          </p:cNvPr>
          <p:cNvSpPr txBox="1">
            <a:spLocks/>
          </p:cNvSpPr>
          <p:nvPr/>
        </p:nvSpPr>
        <p:spPr>
          <a:xfrm>
            <a:off x="2942075" y="11356107"/>
            <a:ext cx="5216353" cy="140262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Mukta ExtraLight" panose="020B0000000000000000" pitchFamily="34" charset="77"/>
              </a:rPr>
              <a:t>“PHI” is sensitive information that relates to health, governed by PHIPA / HIPAA and similar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3A336-FCE2-2335-E20E-B98E06BEEDD8}"/>
              </a:ext>
            </a:extLst>
          </p:cNvPr>
          <p:cNvSpPr txBox="1"/>
          <p:nvPr/>
        </p:nvSpPr>
        <p:spPr>
          <a:xfrm>
            <a:off x="1238498" y="6927515"/>
            <a:ext cx="5524268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3200" b="1" dirty="0">
                <a:solidFill>
                  <a:schemeClr val="tx1"/>
                </a:solidFill>
                <a:latin typeface="Barlow" pitchFamily="2" charset="77"/>
                <a:ea typeface="League Spartan" charset="0"/>
                <a:cs typeface="Poppins" pitchFamily="2" charset="77"/>
              </a:rPr>
              <a:t>PERSONALLY IDENTIFIABLE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88171E5-DC29-0CD9-C580-4AE7C52EF5C0}"/>
              </a:ext>
            </a:extLst>
          </p:cNvPr>
          <p:cNvSpPr txBox="1">
            <a:spLocks/>
          </p:cNvSpPr>
          <p:nvPr/>
        </p:nvSpPr>
        <p:spPr>
          <a:xfrm>
            <a:off x="1546413" y="7611341"/>
            <a:ext cx="5216353" cy="140262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Mukta ExtraLight" panose="020B0000000000000000" pitchFamily="34" charset="77"/>
              </a:rPr>
              <a:t>“PII” is information that specifically identifies an individual.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96D365-B741-0494-D682-54EC147110F4}"/>
              </a:ext>
            </a:extLst>
          </p:cNvPr>
          <p:cNvSpPr txBox="1"/>
          <p:nvPr/>
        </p:nvSpPr>
        <p:spPr>
          <a:xfrm>
            <a:off x="16217608" y="10672281"/>
            <a:ext cx="4176143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Barlow" pitchFamily="2" charset="77"/>
                <a:ea typeface="League Spartan" charset="0"/>
                <a:cs typeface="Poppins" pitchFamily="2" charset="77"/>
              </a:rPr>
              <a:t>PUBLIC INFORMATION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9CDCB1F-3086-DCAA-E121-EFE5FBF25691}"/>
              </a:ext>
            </a:extLst>
          </p:cNvPr>
          <p:cNvSpPr txBox="1">
            <a:spLocks/>
          </p:cNvSpPr>
          <p:nvPr/>
        </p:nvSpPr>
        <p:spPr>
          <a:xfrm>
            <a:off x="16217608" y="11356107"/>
            <a:ext cx="5216353" cy="140262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Mukta ExtraLight" panose="020B0000000000000000" pitchFamily="34" charset="77"/>
              </a:rPr>
              <a:t>Public information is still subject to obligations under privacy law. You can’t just use it.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99377F-C8BE-B364-7BCE-5E181F5E610A}"/>
              </a:ext>
            </a:extLst>
          </p:cNvPr>
          <p:cNvSpPr txBox="1"/>
          <p:nvPr/>
        </p:nvSpPr>
        <p:spPr>
          <a:xfrm>
            <a:off x="17625768" y="6927515"/>
            <a:ext cx="4777270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Barlow" pitchFamily="2" charset="77"/>
                <a:ea typeface="League Spartan" charset="0"/>
                <a:cs typeface="Poppins" pitchFamily="2" charset="77"/>
              </a:rPr>
              <a:t>SENSITIVE INFORMATION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B430B82C-6FA7-4325-9379-FBE4A2123CD3}"/>
              </a:ext>
            </a:extLst>
          </p:cNvPr>
          <p:cNvSpPr txBox="1">
            <a:spLocks/>
          </p:cNvSpPr>
          <p:nvPr/>
        </p:nvSpPr>
        <p:spPr>
          <a:xfrm>
            <a:off x="17625768" y="7611341"/>
            <a:ext cx="5216353" cy="95378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Mukta ExtraLight" panose="020B0000000000000000" pitchFamily="34" charset="77"/>
              </a:rPr>
              <a:t>A category under law. Canada is contextual, EU/UK is very specific</a:t>
            </a:r>
          </a:p>
        </p:txBody>
      </p:sp>
      <p:pic>
        <p:nvPicPr>
          <p:cNvPr id="24" name="Graphic 23" descr="Statistics outline">
            <a:extLst>
              <a:ext uri="{FF2B5EF4-FFF2-40B4-BE49-F238E27FC236}">
                <a16:creationId xmlns:a16="http://schemas.microsoft.com/office/drawing/2014/main" id="{064F9E1E-8858-72AD-1C68-BD3EF961A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4954" y="4519916"/>
            <a:ext cx="1466108" cy="1466108"/>
          </a:xfrm>
          <a:prstGeom prst="rect">
            <a:avLst/>
          </a:prstGeom>
        </p:spPr>
      </p:pic>
      <p:pic>
        <p:nvPicPr>
          <p:cNvPr id="28" name="Graphic 27" descr="User outline">
            <a:extLst>
              <a:ext uri="{FF2B5EF4-FFF2-40B4-BE49-F238E27FC236}">
                <a16:creationId xmlns:a16="http://schemas.microsoft.com/office/drawing/2014/main" id="{31338A50-D40D-7006-D9A6-9E1CC75648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8500" y="6699154"/>
            <a:ext cx="1320064" cy="1320064"/>
          </a:xfrm>
          <a:prstGeom prst="rect">
            <a:avLst/>
          </a:prstGeom>
        </p:spPr>
      </p:pic>
      <p:pic>
        <p:nvPicPr>
          <p:cNvPr id="30" name="Graphic 29" descr="Heartbeat outline">
            <a:extLst>
              <a:ext uri="{FF2B5EF4-FFF2-40B4-BE49-F238E27FC236}">
                <a16:creationId xmlns:a16="http://schemas.microsoft.com/office/drawing/2014/main" id="{A8440A53-3DA9-4AFE-7C05-C73F510B34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92439" y="10540186"/>
            <a:ext cx="1407833" cy="1407833"/>
          </a:xfrm>
          <a:prstGeom prst="rect">
            <a:avLst/>
          </a:prstGeom>
        </p:spPr>
      </p:pic>
      <p:pic>
        <p:nvPicPr>
          <p:cNvPr id="32" name="Graphic 31" descr="Spider web outline">
            <a:extLst>
              <a:ext uri="{FF2B5EF4-FFF2-40B4-BE49-F238E27FC236}">
                <a16:creationId xmlns:a16="http://schemas.microsoft.com/office/drawing/2014/main" id="{F8ADB955-4958-43D9-C4E1-FE819BBCA2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325740" y="10511048"/>
            <a:ext cx="1466107" cy="1466107"/>
          </a:xfrm>
          <a:prstGeom prst="rect">
            <a:avLst/>
          </a:prstGeom>
        </p:spPr>
      </p:pic>
      <p:pic>
        <p:nvPicPr>
          <p:cNvPr id="34" name="Graphic 33" descr="Bio-hazard outline">
            <a:extLst>
              <a:ext uri="{FF2B5EF4-FFF2-40B4-BE49-F238E27FC236}">
                <a16:creationId xmlns:a16="http://schemas.microsoft.com/office/drawing/2014/main" id="{ADDC1264-4564-4969-4C17-F62B054754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453839" y="6362235"/>
            <a:ext cx="1843593" cy="1843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How it affects development"/>
          <p:cNvSpPr txBox="1">
            <a:spLocks noGrp="1"/>
          </p:cNvSpPr>
          <p:nvPr>
            <p:ph type="title"/>
          </p:nvPr>
        </p:nvSpPr>
        <p:spPr>
          <a:xfrm>
            <a:off x="762000" y="6858000"/>
            <a:ext cx="22860001" cy="3810000"/>
          </a:xfrm>
          <a:prstGeom prst="rect">
            <a:avLst/>
          </a:prstGeom>
        </p:spPr>
        <p:txBody>
          <a:bodyPr>
            <a:noAutofit/>
          </a:bodyPr>
          <a:lstStyle>
            <a:lvl1pPr defTabSz="503555">
              <a:defRPr sz="18483"/>
            </a:lvl1pPr>
          </a:lstStyle>
          <a:p>
            <a:r>
              <a:rPr sz="13800" dirty="0">
                <a:solidFill>
                  <a:srgbClr val="FF0659"/>
                </a:solidFill>
              </a:rPr>
              <a:t>How it affects development</a:t>
            </a:r>
          </a:p>
        </p:txBody>
      </p:sp>
      <p:sp>
        <p:nvSpPr>
          <p:cNvPr id="243" name="Application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Application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A" dirty="0"/>
              <a:t>APPLICATION</a:t>
            </a:r>
            <a:endParaRPr dirty="0"/>
          </a:p>
        </p:txBody>
      </p:sp>
      <p:sp>
        <p:nvSpPr>
          <p:cNvPr id="253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685165">
              <a:spcBef>
                <a:spcPts val="3200"/>
              </a:spcBef>
              <a:defRPr sz="7221"/>
            </a:pPr>
            <a:r>
              <a:rPr lang="en-CA" dirty="0">
                <a:solidFill>
                  <a:srgbClr val="FF0659"/>
                </a:solidFill>
              </a:rPr>
              <a:t>OWASP SAMM – Sound Familiar?</a:t>
            </a:r>
            <a:endParaRPr dirty="0">
              <a:solidFill>
                <a:srgbClr val="FF0659"/>
              </a:solidFill>
            </a:endParaRPr>
          </a:p>
        </p:txBody>
      </p:sp>
      <p:sp useBgFill="1">
        <p:nvSpPr>
          <p:cNvPr id="2" name="Hexagon 1">
            <a:extLst>
              <a:ext uri="{FF2B5EF4-FFF2-40B4-BE49-F238E27FC236}">
                <a16:creationId xmlns:a16="http://schemas.microsoft.com/office/drawing/2014/main" id="{FD4C9219-5CC1-DA78-C22D-C73DAF5E5A9A}"/>
              </a:ext>
            </a:extLst>
          </p:cNvPr>
          <p:cNvSpPr/>
          <p:nvPr/>
        </p:nvSpPr>
        <p:spPr>
          <a:xfrm>
            <a:off x="12401665" y="6855037"/>
            <a:ext cx="3383280" cy="3094659"/>
          </a:xfrm>
          <a:prstGeom prst="hexagon">
            <a:avLst>
              <a:gd name="adj" fmla="val 22506"/>
              <a:gd name="vf" fmla="val 115470"/>
            </a:avLst>
          </a:prstGeom>
          <a:ln w="63500">
            <a:solidFill>
              <a:srgbClr val="EA3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 useBgFill="1">
        <p:nvSpPr>
          <p:cNvPr id="3" name="Hexagon 2">
            <a:extLst>
              <a:ext uri="{FF2B5EF4-FFF2-40B4-BE49-F238E27FC236}">
                <a16:creationId xmlns:a16="http://schemas.microsoft.com/office/drawing/2014/main" id="{CD50649C-22BA-1651-4B47-B84058993A53}"/>
              </a:ext>
            </a:extLst>
          </p:cNvPr>
          <p:cNvSpPr/>
          <p:nvPr/>
        </p:nvSpPr>
        <p:spPr>
          <a:xfrm>
            <a:off x="8502749" y="6855037"/>
            <a:ext cx="3383280" cy="3094659"/>
          </a:xfrm>
          <a:prstGeom prst="hexagon">
            <a:avLst>
              <a:gd name="adj" fmla="val 22506"/>
              <a:gd name="vf" fmla="val 115470"/>
            </a:avLst>
          </a:prstGeom>
          <a:ln w="63500">
            <a:solidFill>
              <a:srgbClr val="EA3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3D196-53ED-07FF-246F-23933971B1CB}"/>
              </a:ext>
            </a:extLst>
          </p:cNvPr>
          <p:cNvSpPr txBox="1"/>
          <p:nvPr/>
        </p:nvSpPr>
        <p:spPr>
          <a:xfrm>
            <a:off x="8688207" y="7986865"/>
            <a:ext cx="3012363" cy="8309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rlow" pitchFamily="2" charset="77"/>
                <a:cs typeface="Poppins" pitchFamily="2" charset="77"/>
              </a:rPr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EB12C-B4B5-72D2-097A-0D42FEBE34B7}"/>
              </a:ext>
            </a:extLst>
          </p:cNvPr>
          <p:cNvSpPr txBox="1"/>
          <p:nvPr/>
        </p:nvSpPr>
        <p:spPr>
          <a:xfrm>
            <a:off x="12607162" y="7986865"/>
            <a:ext cx="2972289" cy="8309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rlow" pitchFamily="2" charset="77"/>
                <a:cs typeface="Poppins" pitchFamily="2" charset="77"/>
              </a:rPr>
              <a:t>PRACTICE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EEC4F5-21FA-27A7-A0C3-4608B6617318}"/>
              </a:ext>
            </a:extLst>
          </p:cNvPr>
          <p:cNvSpPr/>
          <p:nvPr/>
        </p:nvSpPr>
        <p:spPr>
          <a:xfrm>
            <a:off x="17239647" y="4064000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074C5D-7C2E-FDDD-3635-978F46BB9C1A}"/>
              </a:ext>
            </a:extLst>
          </p:cNvPr>
          <p:cNvSpPr/>
          <p:nvPr/>
        </p:nvSpPr>
        <p:spPr>
          <a:xfrm>
            <a:off x="17239647" y="5935373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3A8BB9-C65E-EB65-4C82-1CC3C3FB4200}"/>
              </a:ext>
            </a:extLst>
          </p:cNvPr>
          <p:cNvSpPr/>
          <p:nvPr/>
        </p:nvSpPr>
        <p:spPr>
          <a:xfrm>
            <a:off x="17239647" y="7806746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CDCD89-6CBC-3583-140F-3C75C8C949C8}"/>
              </a:ext>
            </a:extLst>
          </p:cNvPr>
          <p:cNvSpPr/>
          <p:nvPr/>
        </p:nvSpPr>
        <p:spPr>
          <a:xfrm>
            <a:off x="17239647" y="9678119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23B86C-CB6B-15DC-969D-1B665B8C7FF9}"/>
              </a:ext>
            </a:extLst>
          </p:cNvPr>
          <p:cNvSpPr/>
          <p:nvPr/>
        </p:nvSpPr>
        <p:spPr>
          <a:xfrm>
            <a:off x="17239647" y="11549492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860E5C8-3A84-DD1F-DFC6-CDDE21BC0578}"/>
              </a:ext>
            </a:extLst>
          </p:cNvPr>
          <p:cNvSpPr/>
          <p:nvPr/>
        </p:nvSpPr>
        <p:spPr>
          <a:xfrm>
            <a:off x="5881150" y="4064000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7F15A5-FE14-F46F-86BB-3FF542E7CFE8}"/>
              </a:ext>
            </a:extLst>
          </p:cNvPr>
          <p:cNvSpPr/>
          <p:nvPr/>
        </p:nvSpPr>
        <p:spPr>
          <a:xfrm>
            <a:off x="5881150" y="5935373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9FC8B6-D266-9FEE-D91A-6EE4FFC27B22}"/>
              </a:ext>
            </a:extLst>
          </p:cNvPr>
          <p:cNvSpPr/>
          <p:nvPr/>
        </p:nvSpPr>
        <p:spPr>
          <a:xfrm>
            <a:off x="5881150" y="7806746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7F642D-4434-3453-138D-B972E482A97A}"/>
              </a:ext>
            </a:extLst>
          </p:cNvPr>
          <p:cNvSpPr/>
          <p:nvPr/>
        </p:nvSpPr>
        <p:spPr>
          <a:xfrm>
            <a:off x="5881150" y="9678119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82E917-1CCF-F5CF-B37B-ADCA7F7FDC1E}"/>
              </a:ext>
            </a:extLst>
          </p:cNvPr>
          <p:cNvSpPr/>
          <p:nvPr/>
        </p:nvSpPr>
        <p:spPr>
          <a:xfrm>
            <a:off x="5881150" y="11549492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876B3E1-94E8-4B61-8419-1C67CB745F49}"/>
              </a:ext>
            </a:extLst>
          </p:cNvPr>
          <p:cNvCxnSpPr>
            <a:cxnSpLocks/>
            <a:stCxn id="11" idx="6"/>
            <a:endCxn id="3" idx="3"/>
          </p:cNvCxnSpPr>
          <p:nvPr/>
        </p:nvCxnSpPr>
        <p:spPr>
          <a:xfrm>
            <a:off x="7072393" y="4659622"/>
            <a:ext cx="1430356" cy="3742745"/>
          </a:xfrm>
          <a:prstGeom prst="bentConnector3">
            <a:avLst/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3A917B64-EAE4-CD29-E591-FC196958A035}"/>
              </a:ext>
            </a:extLst>
          </p:cNvPr>
          <p:cNvCxnSpPr>
            <a:cxnSpLocks/>
            <a:stCxn id="3" idx="3"/>
            <a:endCxn id="14" idx="6"/>
          </p:cNvCxnSpPr>
          <p:nvPr/>
        </p:nvCxnSpPr>
        <p:spPr>
          <a:xfrm rot="10800000" flipV="1">
            <a:off x="7072393" y="8402367"/>
            <a:ext cx="1430356" cy="1871374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830ED58-20A5-E1C4-89DA-7D7715E12C51}"/>
              </a:ext>
            </a:extLst>
          </p:cNvPr>
          <p:cNvCxnSpPr>
            <a:cxnSpLocks/>
            <a:stCxn id="3" idx="3"/>
            <a:endCxn id="15" idx="6"/>
          </p:cNvCxnSpPr>
          <p:nvPr/>
        </p:nvCxnSpPr>
        <p:spPr>
          <a:xfrm rot="10800000" flipV="1">
            <a:off x="7072393" y="8402366"/>
            <a:ext cx="1430356" cy="3742747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5E2C6321-E479-618D-4C36-D3EDC44BFA5F}"/>
              </a:ext>
            </a:extLst>
          </p:cNvPr>
          <p:cNvCxnSpPr>
            <a:cxnSpLocks/>
            <a:stCxn id="3" idx="3"/>
            <a:endCxn id="12" idx="6"/>
          </p:cNvCxnSpPr>
          <p:nvPr/>
        </p:nvCxnSpPr>
        <p:spPr>
          <a:xfrm rot="10800000">
            <a:off x="7072393" y="6530995"/>
            <a:ext cx="1430356" cy="1871372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918798E-1933-383E-B20B-5CF6E53D6396}"/>
              </a:ext>
            </a:extLst>
          </p:cNvPr>
          <p:cNvCxnSpPr>
            <a:cxnSpLocks/>
            <a:stCxn id="3" idx="3"/>
            <a:endCxn id="13" idx="6"/>
          </p:cNvCxnSpPr>
          <p:nvPr/>
        </p:nvCxnSpPr>
        <p:spPr>
          <a:xfrm rot="10800000" flipV="1">
            <a:off x="7072393" y="8402366"/>
            <a:ext cx="1430356" cy="1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6314E56-45D5-49D7-7F88-3C7E454B6C28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rot="10800000" flipV="1">
            <a:off x="15784945" y="4659621"/>
            <a:ext cx="1454702" cy="3742745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4865F5C-441A-4FB3-21B4-2287D56AC72F}"/>
              </a:ext>
            </a:extLst>
          </p:cNvPr>
          <p:cNvCxnSpPr>
            <a:cxnSpLocks/>
            <a:stCxn id="2" idx="0"/>
            <a:endCxn id="9" idx="2"/>
          </p:cNvCxnSpPr>
          <p:nvPr/>
        </p:nvCxnSpPr>
        <p:spPr>
          <a:xfrm>
            <a:off x="15784945" y="8402367"/>
            <a:ext cx="1454702" cy="1871374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4DE224F3-AEA4-4566-D11E-02AE8408D07C}"/>
              </a:ext>
            </a:extLst>
          </p:cNvPr>
          <p:cNvCxnSpPr>
            <a:cxnSpLocks/>
            <a:stCxn id="2" idx="0"/>
            <a:endCxn id="10" idx="2"/>
          </p:cNvCxnSpPr>
          <p:nvPr/>
        </p:nvCxnSpPr>
        <p:spPr>
          <a:xfrm>
            <a:off x="15784945" y="8402367"/>
            <a:ext cx="1454702" cy="3742747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D1F5CACD-A55C-B1D7-0FDB-EABAC8A47061}"/>
              </a:ext>
            </a:extLst>
          </p:cNvPr>
          <p:cNvCxnSpPr>
            <a:cxnSpLocks/>
            <a:stCxn id="2" idx="0"/>
            <a:endCxn id="7" idx="2"/>
          </p:cNvCxnSpPr>
          <p:nvPr/>
        </p:nvCxnSpPr>
        <p:spPr>
          <a:xfrm flipV="1">
            <a:off x="15784945" y="6530995"/>
            <a:ext cx="1454702" cy="1871372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0076396D-3F55-885F-9E5E-80CD0822D8AD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 rot="10800000">
            <a:off x="15784945" y="8402368"/>
            <a:ext cx="145470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btitle 2">
            <a:extLst>
              <a:ext uri="{FF2B5EF4-FFF2-40B4-BE49-F238E27FC236}">
                <a16:creationId xmlns:a16="http://schemas.microsoft.com/office/drawing/2014/main" id="{F7D4C1A3-B13C-8974-BFC3-5947F9AD755E}"/>
              </a:ext>
            </a:extLst>
          </p:cNvPr>
          <p:cNvSpPr txBox="1">
            <a:spLocks/>
          </p:cNvSpPr>
          <p:nvPr/>
        </p:nvSpPr>
        <p:spPr>
          <a:xfrm>
            <a:off x="1509146" y="4505283"/>
            <a:ext cx="4075037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Governance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686297B0-DD2B-1572-599D-A61E8079BF36}"/>
              </a:ext>
            </a:extLst>
          </p:cNvPr>
          <p:cNvSpPr txBox="1">
            <a:spLocks/>
          </p:cNvSpPr>
          <p:nvPr/>
        </p:nvSpPr>
        <p:spPr>
          <a:xfrm>
            <a:off x="1497865" y="6328112"/>
            <a:ext cx="4075037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Design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F2AD0BB9-6081-7DF8-A61F-EBC70CAA8DF0}"/>
              </a:ext>
            </a:extLst>
          </p:cNvPr>
          <p:cNvSpPr txBox="1">
            <a:spLocks/>
          </p:cNvSpPr>
          <p:nvPr/>
        </p:nvSpPr>
        <p:spPr>
          <a:xfrm>
            <a:off x="762000" y="8153558"/>
            <a:ext cx="4810903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Implementation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1179700A-6D5C-7F00-6301-C82698C20801}"/>
              </a:ext>
            </a:extLst>
          </p:cNvPr>
          <p:cNvSpPr txBox="1">
            <a:spLocks/>
          </p:cNvSpPr>
          <p:nvPr/>
        </p:nvSpPr>
        <p:spPr>
          <a:xfrm>
            <a:off x="1497865" y="10036955"/>
            <a:ext cx="4075037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Verification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0CE2B34F-24BE-839E-1200-0A995FE5DB9E}"/>
              </a:ext>
            </a:extLst>
          </p:cNvPr>
          <p:cNvSpPr txBox="1">
            <a:spLocks/>
          </p:cNvSpPr>
          <p:nvPr/>
        </p:nvSpPr>
        <p:spPr>
          <a:xfrm>
            <a:off x="1488272" y="11921941"/>
            <a:ext cx="4075037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Operations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5D732C28-7FD6-B14C-231F-48E39A3CE655}"/>
              </a:ext>
            </a:extLst>
          </p:cNvPr>
          <p:cNvSpPr txBox="1">
            <a:spLocks/>
          </p:cNvSpPr>
          <p:nvPr/>
        </p:nvSpPr>
        <p:spPr>
          <a:xfrm>
            <a:off x="18738041" y="3958306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Strategy and Metrics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Policy and Compliance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Education and Guidance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97C8AA1E-02B2-FB05-8174-E877737D5468}"/>
              </a:ext>
            </a:extLst>
          </p:cNvPr>
          <p:cNvSpPr txBox="1">
            <a:spLocks/>
          </p:cNvSpPr>
          <p:nvPr/>
        </p:nvSpPr>
        <p:spPr>
          <a:xfrm>
            <a:off x="18738041" y="5829678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Threat Assessment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Requirements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by Design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41F6C3CA-A14C-C70D-592C-8B755C52D3C6}"/>
              </a:ext>
            </a:extLst>
          </p:cNvPr>
          <p:cNvSpPr txBox="1">
            <a:spLocks/>
          </p:cNvSpPr>
          <p:nvPr/>
        </p:nvSpPr>
        <p:spPr>
          <a:xfrm>
            <a:off x="18738041" y="7730110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Secure Build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Secure Deployment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Defect Management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E154EB2E-79D8-D252-90C8-BA01394D4B89}"/>
              </a:ext>
            </a:extLst>
          </p:cNvPr>
          <p:cNvSpPr txBox="1">
            <a:spLocks/>
          </p:cNvSpPr>
          <p:nvPr/>
        </p:nvSpPr>
        <p:spPr>
          <a:xfrm>
            <a:off x="18738041" y="9572424"/>
            <a:ext cx="4883959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Architecture Assessment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Requirements Driven Testing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Testing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65631263-93E4-9120-6FF4-86B02E5F7FC1}"/>
              </a:ext>
            </a:extLst>
          </p:cNvPr>
          <p:cNvSpPr txBox="1">
            <a:spLocks/>
          </p:cNvSpPr>
          <p:nvPr/>
        </p:nvSpPr>
        <p:spPr>
          <a:xfrm>
            <a:off x="18738041" y="11443798"/>
            <a:ext cx="4883959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Incident Management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Environment Management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Operational Management</a:t>
            </a:r>
          </a:p>
        </p:txBody>
      </p:sp>
      <p:pic>
        <p:nvPicPr>
          <p:cNvPr id="53" name="Graphic 52" descr="Juggler with solid fill">
            <a:extLst>
              <a:ext uri="{FF2B5EF4-FFF2-40B4-BE49-F238E27FC236}">
                <a16:creationId xmlns:a16="http://schemas.microsoft.com/office/drawing/2014/main" id="{552BF9FE-2724-4A14-4431-7EFCF9CED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4418" y="11687912"/>
            <a:ext cx="914400" cy="914400"/>
          </a:xfrm>
          <a:prstGeom prst="rect">
            <a:avLst/>
          </a:prstGeom>
        </p:spPr>
      </p:pic>
      <p:pic>
        <p:nvPicPr>
          <p:cNvPr id="55" name="Graphic 54" descr="Test Dummy with solid fill">
            <a:extLst>
              <a:ext uri="{FF2B5EF4-FFF2-40B4-BE49-F238E27FC236}">
                <a16:creationId xmlns:a16="http://schemas.microsoft.com/office/drawing/2014/main" id="{37845F36-F03E-44C1-ED1A-EE5DB38C4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5245" y="9816538"/>
            <a:ext cx="914400" cy="914400"/>
          </a:xfrm>
          <a:prstGeom prst="rect">
            <a:avLst/>
          </a:prstGeom>
        </p:spPr>
      </p:pic>
      <p:pic>
        <p:nvPicPr>
          <p:cNvPr id="57" name="Graphic 56" descr="Crane with solid fill">
            <a:extLst>
              <a:ext uri="{FF2B5EF4-FFF2-40B4-BE49-F238E27FC236}">
                <a16:creationId xmlns:a16="http://schemas.microsoft.com/office/drawing/2014/main" id="{467D3902-EDE9-385B-F859-9527C23383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55244" y="7945163"/>
            <a:ext cx="914400" cy="914400"/>
          </a:xfrm>
          <a:prstGeom prst="rect">
            <a:avLst/>
          </a:prstGeom>
        </p:spPr>
      </p:pic>
      <p:pic>
        <p:nvPicPr>
          <p:cNvPr id="59" name="Graphic 58" descr="Cave Drawing with solid fill">
            <a:extLst>
              <a:ext uri="{FF2B5EF4-FFF2-40B4-BE49-F238E27FC236}">
                <a16:creationId xmlns:a16="http://schemas.microsoft.com/office/drawing/2014/main" id="{69C763BD-61AF-5A57-8819-111E0853F6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9571" y="6073792"/>
            <a:ext cx="914400" cy="914400"/>
          </a:xfrm>
          <a:prstGeom prst="rect">
            <a:avLst/>
          </a:prstGeom>
        </p:spPr>
      </p:pic>
      <p:pic>
        <p:nvPicPr>
          <p:cNvPr id="61" name="Graphic 60" descr="Gavel with solid fill">
            <a:extLst>
              <a:ext uri="{FF2B5EF4-FFF2-40B4-BE49-F238E27FC236}">
                <a16:creationId xmlns:a16="http://schemas.microsoft.com/office/drawing/2014/main" id="{B9F86225-40F0-7FE0-FCA6-0BE0ACCE95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04418" y="4151519"/>
            <a:ext cx="914400" cy="914400"/>
          </a:xfrm>
          <a:prstGeom prst="rect">
            <a:avLst/>
          </a:prstGeom>
        </p:spPr>
      </p:pic>
      <p:pic>
        <p:nvPicPr>
          <p:cNvPr id="63" name="Graphic 62" descr="Bug under magnifying glass with solid fill">
            <a:extLst>
              <a:ext uri="{FF2B5EF4-FFF2-40B4-BE49-F238E27FC236}">
                <a16:creationId xmlns:a16="http://schemas.microsoft.com/office/drawing/2014/main" id="{9C06C943-12D0-2B3B-8848-38979FC980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8068" y="11669470"/>
            <a:ext cx="914400" cy="914400"/>
          </a:xfrm>
          <a:prstGeom prst="rect">
            <a:avLst/>
          </a:prstGeom>
        </p:spPr>
      </p:pic>
      <p:pic>
        <p:nvPicPr>
          <p:cNvPr id="193" name="Graphic 192" descr="Drawing compass with solid fill">
            <a:extLst>
              <a:ext uri="{FF2B5EF4-FFF2-40B4-BE49-F238E27FC236}">
                <a16:creationId xmlns:a16="http://schemas.microsoft.com/office/drawing/2014/main" id="{8ED4F439-2CB6-F214-41F4-27F38ECB071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370552" y="9798096"/>
            <a:ext cx="914400" cy="914400"/>
          </a:xfrm>
          <a:prstGeom prst="rect">
            <a:avLst/>
          </a:prstGeom>
        </p:spPr>
      </p:pic>
      <p:pic>
        <p:nvPicPr>
          <p:cNvPr id="195" name="Graphic 194" descr="Safe with solid fill">
            <a:extLst>
              <a:ext uri="{FF2B5EF4-FFF2-40B4-BE49-F238E27FC236}">
                <a16:creationId xmlns:a16="http://schemas.microsoft.com/office/drawing/2014/main" id="{5C688CFB-EE3D-CAA7-FFDD-F5F934EC5E4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376135" y="7949981"/>
            <a:ext cx="914400" cy="914400"/>
          </a:xfrm>
          <a:prstGeom prst="rect">
            <a:avLst/>
          </a:prstGeom>
        </p:spPr>
      </p:pic>
      <p:pic>
        <p:nvPicPr>
          <p:cNvPr id="197" name="Graphic 196" descr="Radioactive with solid fill">
            <a:extLst>
              <a:ext uri="{FF2B5EF4-FFF2-40B4-BE49-F238E27FC236}">
                <a16:creationId xmlns:a16="http://schemas.microsoft.com/office/drawing/2014/main" id="{A019B22A-D6A3-7BE6-9969-90C25C61309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378068" y="6082895"/>
            <a:ext cx="914400" cy="914400"/>
          </a:xfrm>
          <a:prstGeom prst="rect">
            <a:avLst/>
          </a:prstGeom>
        </p:spPr>
      </p:pic>
      <p:pic>
        <p:nvPicPr>
          <p:cNvPr id="199" name="Graphic 198" descr="Clipboard Checked with solid fill">
            <a:extLst>
              <a:ext uri="{FF2B5EF4-FFF2-40B4-BE49-F238E27FC236}">
                <a16:creationId xmlns:a16="http://schemas.microsoft.com/office/drawing/2014/main" id="{BC1FC35E-6E2B-439C-0DA9-02497184E1F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370552" y="4154578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D10019F-417A-1DC1-C672-9D4BC29E6DD5}"/>
              </a:ext>
            </a:extLst>
          </p:cNvPr>
          <p:cNvSpPr txBox="1"/>
          <p:nvPr/>
        </p:nvSpPr>
        <p:spPr>
          <a:xfrm>
            <a:off x="13786385" y="-349995"/>
            <a:ext cx="10381047" cy="8797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1800" dirty="0">
                <a:latin typeface="Epilogue Medium" pitchFamily="2" charset="77"/>
              </a:rPr>
              <a:t>Modified from </a:t>
            </a:r>
            <a:r>
              <a:rPr lang="en-US" sz="1800" dirty="0">
                <a:solidFill>
                  <a:srgbClr val="FF0659"/>
                </a:solidFill>
                <a:latin typeface="Epilogue Medium" pitchFamily="2" charset="77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original</a:t>
            </a:r>
            <a:r>
              <a:rPr lang="en-US" sz="1800" dirty="0">
                <a:latin typeface="Epilogue Medium" pitchFamily="2" charset="77"/>
              </a:rPr>
              <a:t>. OWASP SAMM is published by OWASP under the </a:t>
            </a:r>
            <a:r>
              <a:rPr lang="en-US" sz="1800" dirty="0">
                <a:solidFill>
                  <a:srgbClr val="FF0659"/>
                </a:solidFill>
                <a:latin typeface="Epilogue Medium" pitchFamily="2" charset="77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 4.0 license</a:t>
            </a:r>
            <a:endParaRPr lang="en-US" sz="1800" dirty="0">
              <a:solidFill>
                <a:srgbClr val="FF0659"/>
              </a:solidFill>
              <a:latin typeface="Epilogue Medium" pitchFamily="2" charset="7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tandardized Frameworks and Assessment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A" dirty="0"/>
              <a:t>APPLICATION</a:t>
            </a:r>
            <a:endParaRPr dirty="0"/>
          </a:p>
        </p:txBody>
      </p:sp>
      <p:sp>
        <p:nvSpPr>
          <p:cNvPr id="248" name="Security Maturity Assessment with SAM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lang="en-CA" dirty="0"/>
              <a:t>GOVERNANCE</a:t>
            </a:r>
            <a:endParaRPr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E29774-EF03-0EF3-D847-0187D624FEB0}"/>
              </a:ext>
            </a:extLst>
          </p:cNvPr>
          <p:cNvSpPr/>
          <p:nvPr/>
        </p:nvSpPr>
        <p:spPr>
          <a:xfrm>
            <a:off x="5489751" y="1878066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AA49254-DAD2-32CE-10B6-8830F362E47B}"/>
              </a:ext>
            </a:extLst>
          </p:cNvPr>
          <p:cNvSpPr txBox="1">
            <a:spLocks/>
          </p:cNvSpPr>
          <p:nvPr/>
        </p:nvSpPr>
        <p:spPr>
          <a:xfrm>
            <a:off x="6988145" y="1772372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Strategy and Metrics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Policy and Compliance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Education and Guidance</a:t>
            </a:r>
          </a:p>
        </p:txBody>
      </p:sp>
      <p:pic>
        <p:nvPicPr>
          <p:cNvPr id="6" name="Graphic 5" descr="Clipboard Checked with solid fill">
            <a:extLst>
              <a:ext uri="{FF2B5EF4-FFF2-40B4-BE49-F238E27FC236}">
                <a16:creationId xmlns:a16="http://schemas.microsoft.com/office/drawing/2014/main" id="{995FF2CA-AE0F-EC2A-A3A2-5317A96DB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0656" y="1968644"/>
            <a:ext cx="914400" cy="914400"/>
          </a:xfrm>
          <a:prstGeom prst="rect">
            <a:avLst/>
          </a:prstGeom>
        </p:spPr>
      </p:pic>
      <p:pic>
        <p:nvPicPr>
          <p:cNvPr id="3" name="Graphic 2" descr="Radar Chart with solid fill">
            <a:extLst>
              <a:ext uri="{FF2B5EF4-FFF2-40B4-BE49-F238E27FC236}">
                <a16:creationId xmlns:a16="http://schemas.microsoft.com/office/drawing/2014/main" id="{D7051FBF-28C1-0C68-3366-D004EB3CF0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50131" y="3958309"/>
            <a:ext cx="6630761" cy="6630761"/>
          </a:xfrm>
          <a:prstGeom prst="rect">
            <a:avLst/>
          </a:prstGeom>
        </p:spPr>
      </p:pic>
      <p:pic>
        <p:nvPicPr>
          <p:cNvPr id="9" name="Graphic 8" descr="Sleep Mask with solid fill">
            <a:extLst>
              <a:ext uri="{FF2B5EF4-FFF2-40B4-BE49-F238E27FC236}">
                <a16:creationId xmlns:a16="http://schemas.microsoft.com/office/drawing/2014/main" id="{FA5CCB18-4ECF-3520-F389-7AC72E6F14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63182" y="4872656"/>
            <a:ext cx="3550439" cy="3550439"/>
          </a:xfrm>
          <a:prstGeom prst="rect">
            <a:avLst/>
          </a:prstGeom>
        </p:spPr>
      </p:pic>
      <p:pic>
        <p:nvPicPr>
          <p:cNvPr id="11" name="Graphic 10" descr="Teacher with solid fill">
            <a:extLst>
              <a:ext uri="{FF2B5EF4-FFF2-40B4-BE49-F238E27FC236}">
                <a16:creationId xmlns:a16="http://schemas.microsoft.com/office/drawing/2014/main" id="{A761A9C7-E8DB-568E-27E5-71C6F1F76C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619" y="3984275"/>
            <a:ext cx="6630762" cy="6630762"/>
          </a:xfrm>
          <a:prstGeom prst="rect">
            <a:avLst/>
          </a:prstGeom>
        </p:spPr>
      </p:pic>
      <p:pic>
        <p:nvPicPr>
          <p:cNvPr id="13" name="Graphic 12" descr="Toilet Paper with solid fill">
            <a:extLst>
              <a:ext uri="{FF2B5EF4-FFF2-40B4-BE49-F238E27FC236}">
                <a16:creationId xmlns:a16="http://schemas.microsoft.com/office/drawing/2014/main" id="{678DF446-7FCD-9B4A-FFBB-C14754D93E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4443" y="3958309"/>
            <a:ext cx="6630763" cy="6630763"/>
          </a:xfrm>
          <a:prstGeom prst="rect">
            <a:avLst/>
          </a:prstGeom>
        </p:spPr>
      </p:pic>
      <p:pic>
        <p:nvPicPr>
          <p:cNvPr id="15" name="Graphic 14" descr="Scroll with solid fill">
            <a:extLst>
              <a:ext uri="{FF2B5EF4-FFF2-40B4-BE49-F238E27FC236}">
                <a16:creationId xmlns:a16="http://schemas.microsoft.com/office/drawing/2014/main" id="{2FE98416-AEF0-F4C7-84B8-9AC7AC5BBAA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3107" y="4064000"/>
            <a:ext cx="6630762" cy="66307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6252AF-5683-B663-0D32-8E83A196C5A7}"/>
              </a:ext>
            </a:extLst>
          </p:cNvPr>
          <p:cNvSpPr txBox="1"/>
          <p:nvPr/>
        </p:nvSpPr>
        <p:spPr>
          <a:xfrm>
            <a:off x="1802045" y="10455459"/>
            <a:ext cx="5315558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Have Dev Standards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and Policies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C2D3C7-2195-AE08-436B-8D83560565A8}"/>
              </a:ext>
            </a:extLst>
          </p:cNvPr>
          <p:cNvSpPr txBox="1"/>
          <p:nvPr/>
        </p:nvSpPr>
        <p:spPr>
          <a:xfrm>
            <a:off x="10003104" y="10455460"/>
            <a:ext cx="4377802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Training at Least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Annually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9F1871-8C56-97C9-EB00-B9D02A2270DE}"/>
              </a:ext>
            </a:extLst>
          </p:cNvPr>
          <p:cNvSpPr txBox="1"/>
          <p:nvPr/>
        </p:nvSpPr>
        <p:spPr>
          <a:xfrm>
            <a:off x="18503009" y="10455460"/>
            <a:ext cx="3525004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The Ability to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Track Metrics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tandardized Frameworks and Assessment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A" dirty="0"/>
              <a:t>APPLICATION</a:t>
            </a:r>
            <a:endParaRPr dirty="0"/>
          </a:p>
        </p:txBody>
      </p:sp>
      <p:sp>
        <p:nvSpPr>
          <p:cNvPr id="248" name="Security Maturity Assessment with SAM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lang="en-CA" dirty="0"/>
              <a:t>DESIGN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CF8AEF-E0D7-3C24-DA36-85F54B634AA9}"/>
              </a:ext>
            </a:extLst>
          </p:cNvPr>
          <p:cNvSpPr/>
          <p:nvPr/>
        </p:nvSpPr>
        <p:spPr>
          <a:xfrm>
            <a:off x="3619900" y="1878067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7D23D-CA7D-4C9F-A6EA-E71E662749A5}"/>
              </a:ext>
            </a:extLst>
          </p:cNvPr>
          <p:cNvSpPr txBox="1">
            <a:spLocks/>
          </p:cNvSpPr>
          <p:nvPr/>
        </p:nvSpPr>
        <p:spPr>
          <a:xfrm>
            <a:off x="5118294" y="1772372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Threat Assessment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Requirements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by Design</a:t>
            </a:r>
          </a:p>
        </p:txBody>
      </p:sp>
      <p:pic>
        <p:nvPicPr>
          <p:cNvPr id="7" name="Graphic 6" descr="Radioactive with solid fill">
            <a:extLst>
              <a:ext uri="{FF2B5EF4-FFF2-40B4-BE49-F238E27FC236}">
                <a16:creationId xmlns:a16="http://schemas.microsoft.com/office/drawing/2014/main" id="{F49602C5-F1C1-4E0E-BE41-7FCD29BEF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8321" y="2025589"/>
            <a:ext cx="914400" cy="914400"/>
          </a:xfrm>
          <a:prstGeom prst="rect">
            <a:avLst/>
          </a:prstGeom>
        </p:spPr>
      </p:pic>
      <p:pic>
        <p:nvPicPr>
          <p:cNvPr id="5" name="Graphic 4" descr="Man changing baby with solid fill">
            <a:extLst>
              <a:ext uri="{FF2B5EF4-FFF2-40B4-BE49-F238E27FC236}">
                <a16:creationId xmlns:a16="http://schemas.microsoft.com/office/drawing/2014/main" id="{3D20764E-8F07-4B13-25D8-06001074C1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060257" y="3988585"/>
            <a:ext cx="6630761" cy="6630761"/>
          </a:xfrm>
          <a:prstGeom prst="rect">
            <a:avLst/>
          </a:prstGeom>
        </p:spPr>
      </p:pic>
      <p:pic>
        <p:nvPicPr>
          <p:cNvPr id="9" name="Graphic 8" descr="Fortune cookie with solid fill">
            <a:extLst>
              <a:ext uri="{FF2B5EF4-FFF2-40B4-BE49-F238E27FC236}">
                <a16:creationId xmlns:a16="http://schemas.microsoft.com/office/drawing/2014/main" id="{ED821887-E4AE-B792-2C7E-244CAA9D16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876619" y="3984275"/>
            <a:ext cx="6630762" cy="6630762"/>
          </a:xfrm>
          <a:prstGeom prst="rect">
            <a:avLst/>
          </a:prstGeom>
        </p:spPr>
      </p:pic>
      <p:pic>
        <p:nvPicPr>
          <p:cNvPr id="11" name="Graphic 10" descr="Scorpion with solid fill">
            <a:extLst>
              <a:ext uri="{FF2B5EF4-FFF2-40B4-BE49-F238E27FC236}">
                <a16:creationId xmlns:a16="http://schemas.microsoft.com/office/drawing/2014/main" id="{5FD3D827-14E5-F933-4FBB-74C164B082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2982" y="4064000"/>
            <a:ext cx="6630762" cy="66307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FCA8AA-D8E0-0FB6-BD55-DF763EAE95DB}"/>
              </a:ext>
            </a:extLst>
          </p:cNvPr>
          <p:cNvSpPr txBox="1"/>
          <p:nvPr/>
        </p:nvSpPr>
        <p:spPr>
          <a:xfrm>
            <a:off x="1248796" y="10455460"/>
            <a:ext cx="5519140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Threat Modelling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and Risk Assessment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72999-9C07-5CFB-5BB2-E4E118020A97}"/>
              </a:ext>
            </a:extLst>
          </p:cNvPr>
          <p:cNvSpPr txBox="1"/>
          <p:nvPr/>
        </p:nvSpPr>
        <p:spPr>
          <a:xfrm>
            <a:off x="9924558" y="10455460"/>
            <a:ext cx="4534895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Consent</a:t>
            </a:r>
            <a:r>
              <a:rPr lang="en-US" sz="4000" dirty="0">
                <a:latin typeface="Montserrat" pitchFamily="2" charset="77"/>
              </a:rPr>
              <a:t>, Notices,</a:t>
            </a:r>
            <a:br>
              <a:rPr lang="en-US" sz="4000" dirty="0">
                <a:latin typeface="Montserrat" pitchFamily="2" charset="77"/>
              </a:rPr>
            </a:br>
            <a:r>
              <a:rPr lang="en-US" sz="4000" dirty="0">
                <a:latin typeface="Montserrat" pitchFamily="2" charset="77"/>
              </a:rPr>
              <a:t>and Cookies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F69F26-1B5E-D7B9-3332-83B6FF30FE7E}"/>
              </a:ext>
            </a:extLst>
          </p:cNvPr>
          <p:cNvSpPr txBox="1"/>
          <p:nvPr/>
        </p:nvSpPr>
        <p:spPr>
          <a:xfrm>
            <a:off x="17523094" y="10455460"/>
            <a:ext cx="5705087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Data Subject</a:t>
            </a: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 Request</a:t>
            </a:r>
            <a:b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Features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77"/>
              <a:sym typeface="Avenir Nex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56681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tandardized Frameworks and Assessment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A" dirty="0"/>
              <a:t>APPLICATION</a:t>
            </a:r>
            <a:endParaRPr dirty="0"/>
          </a:p>
        </p:txBody>
      </p:sp>
      <p:sp>
        <p:nvSpPr>
          <p:cNvPr id="248" name="Security Maturity Assessment with SAM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lang="en-CA" dirty="0"/>
              <a:t>IMPLEMENTATION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940CB0C-D7D5-22AE-D6C9-3FCBDDDC0BF4}"/>
              </a:ext>
            </a:extLst>
          </p:cNvPr>
          <p:cNvSpPr/>
          <p:nvPr/>
        </p:nvSpPr>
        <p:spPr>
          <a:xfrm>
            <a:off x="7060931" y="1849008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9AAFA-A6B7-D2A1-2F21-B1DEDA98BC2E}"/>
              </a:ext>
            </a:extLst>
          </p:cNvPr>
          <p:cNvSpPr txBox="1">
            <a:spLocks/>
          </p:cNvSpPr>
          <p:nvPr/>
        </p:nvSpPr>
        <p:spPr>
          <a:xfrm>
            <a:off x="8559325" y="1772372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Secure Build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Secure Deployment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Defect Management</a:t>
            </a:r>
          </a:p>
        </p:txBody>
      </p:sp>
      <p:pic>
        <p:nvPicPr>
          <p:cNvPr id="7" name="Graphic 6" descr="Safe with solid fill">
            <a:extLst>
              <a:ext uri="{FF2B5EF4-FFF2-40B4-BE49-F238E27FC236}">
                <a16:creationId xmlns:a16="http://schemas.microsoft.com/office/drawing/2014/main" id="{EBE1C678-E60B-5835-CF24-840D5FABE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419" y="1992243"/>
            <a:ext cx="914400" cy="914400"/>
          </a:xfrm>
          <a:prstGeom prst="rect">
            <a:avLst/>
          </a:prstGeom>
        </p:spPr>
      </p:pic>
      <p:pic>
        <p:nvPicPr>
          <p:cNvPr id="5" name="Graphic 4" descr="Stop with solid fill">
            <a:extLst>
              <a:ext uri="{FF2B5EF4-FFF2-40B4-BE49-F238E27FC236}">
                <a16:creationId xmlns:a16="http://schemas.microsoft.com/office/drawing/2014/main" id="{DF0D76DD-3704-E28E-73BF-EA57EF5853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060257" y="3988585"/>
            <a:ext cx="6630761" cy="6630761"/>
          </a:xfrm>
          <a:prstGeom prst="rect">
            <a:avLst/>
          </a:prstGeom>
        </p:spPr>
      </p:pic>
      <p:pic>
        <p:nvPicPr>
          <p:cNvPr id="6" name="Graphic 5" descr="Crown with solid fill">
            <a:extLst>
              <a:ext uri="{FF2B5EF4-FFF2-40B4-BE49-F238E27FC236}">
                <a16:creationId xmlns:a16="http://schemas.microsoft.com/office/drawing/2014/main" id="{A97A43E7-CD3B-00F7-79CF-4D06383C50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876619" y="3984275"/>
            <a:ext cx="6630762" cy="6630762"/>
          </a:xfrm>
          <a:prstGeom prst="rect">
            <a:avLst/>
          </a:prstGeom>
        </p:spPr>
      </p:pic>
      <p:pic>
        <p:nvPicPr>
          <p:cNvPr id="9" name="Graphic 8" descr="Security camera with solid fill">
            <a:extLst>
              <a:ext uri="{FF2B5EF4-FFF2-40B4-BE49-F238E27FC236}">
                <a16:creationId xmlns:a16="http://schemas.microsoft.com/office/drawing/2014/main" id="{B8E40C13-C3FD-73DC-40A9-74B21D7348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2982" y="4064000"/>
            <a:ext cx="6630762" cy="6630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4DC808-1F76-2283-69AA-7DFB540BACEE}"/>
              </a:ext>
            </a:extLst>
          </p:cNvPr>
          <p:cNvSpPr txBox="1"/>
          <p:nvPr/>
        </p:nvSpPr>
        <p:spPr>
          <a:xfrm>
            <a:off x="1753744" y="10455460"/>
            <a:ext cx="4509248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latin typeface="Montserrat" pitchFamily="2" charset="77"/>
              </a:rPr>
              <a:t>Add(</a:t>
            </a:r>
            <a:r>
              <a:rPr lang="en-US" sz="4000" dirty="0" err="1">
                <a:latin typeface="Montserrat" pitchFamily="2" charset="77"/>
              </a:rPr>
              <a:t>ress</a:t>
            </a:r>
            <a:r>
              <a:rPr lang="en-US" sz="4000" dirty="0">
                <a:latin typeface="Montserrat" pitchFamily="2" charset="77"/>
              </a:rPr>
              <a:t>) Privacy</a:t>
            </a:r>
            <a:br>
              <a:rPr lang="en-US" sz="4000" dirty="0">
                <a:latin typeface="Montserrat" pitchFamily="2" charset="77"/>
              </a:rPr>
            </a:br>
            <a:r>
              <a:rPr lang="en-US" sz="4000" dirty="0">
                <a:latin typeface="Montserrat" pitchFamily="2" charset="77"/>
              </a:rPr>
              <a:t>Issue Types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77"/>
              <a:sym typeface="Avenir Next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9A368-3A5B-5D2A-9853-DC924EC823AB}"/>
              </a:ext>
            </a:extLst>
          </p:cNvPr>
          <p:cNvSpPr txBox="1"/>
          <p:nvPr/>
        </p:nvSpPr>
        <p:spPr>
          <a:xfrm>
            <a:off x="10070433" y="10455460"/>
            <a:ext cx="4243149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latin typeface="Montserrat" pitchFamily="2" charset="77"/>
              </a:rPr>
              <a:t>Keep Calm and</a:t>
            </a:r>
            <a:br>
              <a:rPr lang="en-US" sz="4000" dirty="0">
                <a:latin typeface="Montserrat" pitchFamily="2" charset="77"/>
              </a:rPr>
            </a:br>
            <a:r>
              <a:rPr lang="en-US" sz="4000" dirty="0">
                <a:latin typeface="Montserrat" pitchFamily="2" charset="77"/>
              </a:rPr>
              <a:t>Securely Deploy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77"/>
              <a:sym typeface="Avenir Next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295EC-F4D4-82A0-3B1D-0D9C02A813E1}"/>
              </a:ext>
            </a:extLst>
          </p:cNvPr>
          <p:cNvSpPr txBox="1"/>
          <p:nvPr/>
        </p:nvSpPr>
        <p:spPr>
          <a:xfrm>
            <a:off x="18402342" y="10455460"/>
            <a:ext cx="3946594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Keep Devs </a:t>
            </a:r>
            <a:r>
              <a:rPr lang="en-US" sz="4000" dirty="0">
                <a:latin typeface="Montserrat" pitchFamily="2" charset="77"/>
              </a:rPr>
              <a:t>O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ut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of </a:t>
            </a: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Prod (RBAC)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77"/>
              <a:sym typeface="Avenir Nex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95729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tandardized Frameworks and Assessment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A" dirty="0"/>
              <a:t>APPLICATION</a:t>
            </a:r>
            <a:endParaRPr dirty="0"/>
          </a:p>
        </p:txBody>
      </p:sp>
      <p:sp>
        <p:nvSpPr>
          <p:cNvPr id="248" name="Security Maturity Assessment with SAM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lang="en-CA" dirty="0"/>
              <a:t>VERIFICATION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7C3CE59-EE1D-BC00-A874-A8AAA46C7179}"/>
              </a:ext>
            </a:extLst>
          </p:cNvPr>
          <p:cNvSpPr/>
          <p:nvPr/>
        </p:nvSpPr>
        <p:spPr>
          <a:xfrm>
            <a:off x="5544952" y="1878067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CCACA-2205-8F16-73E3-50792E4CC96B}"/>
              </a:ext>
            </a:extLst>
          </p:cNvPr>
          <p:cNvSpPr txBox="1">
            <a:spLocks/>
          </p:cNvSpPr>
          <p:nvPr/>
        </p:nvSpPr>
        <p:spPr>
          <a:xfrm>
            <a:off x="7043346" y="1772372"/>
            <a:ext cx="4883959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Architecture Assessment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Requirements Driven Testing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Testing</a:t>
            </a:r>
          </a:p>
        </p:txBody>
      </p:sp>
      <p:pic>
        <p:nvPicPr>
          <p:cNvPr id="7" name="Graphic 6" descr="Drawing compass with solid fill">
            <a:extLst>
              <a:ext uri="{FF2B5EF4-FFF2-40B4-BE49-F238E27FC236}">
                <a16:creationId xmlns:a16="http://schemas.microsoft.com/office/drawing/2014/main" id="{7EDA80DF-7D38-539A-31CD-D9D6F07F3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5857" y="1998044"/>
            <a:ext cx="914400" cy="914400"/>
          </a:xfrm>
          <a:prstGeom prst="rect">
            <a:avLst/>
          </a:prstGeom>
        </p:spPr>
      </p:pic>
      <p:pic>
        <p:nvPicPr>
          <p:cNvPr id="5" name="Graphic 4" descr="Venn diagram with solid fill">
            <a:extLst>
              <a:ext uri="{FF2B5EF4-FFF2-40B4-BE49-F238E27FC236}">
                <a16:creationId xmlns:a16="http://schemas.microsoft.com/office/drawing/2014/main" id="{16C2DEE5-CC2B-9F73-A90B-A4A72B1456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060257" y="3988585"/>
            <a:ext cx="6630761" cy="6630761"/>
          </a:xfrm>
          <a:prstGeom prst="rect">
            <a:avLst/>
          </a:prstGeom>
        </p:spPr>
      </p:pic>
      <p:pic>
        <p:nvPicPr>
          <p:cNvPr id="6" name="Graphic 5" descr="Decision chart with solid fill">
            <a:extLst>
              <a:ext uri="{FF2B5EF4-FFF2-40B4-BE49-F238E27FC236}">
                <a16:creationId xmlns:a16="http://schemas.microsoft.com/office/drawing/2014/main" id="{85EE03A2-04AA-4DFA-2B27-710D9B4026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876619" y="3984275"/>
            <a:ext cx="6630762" cy="6630762"/>
          </a:xfrm>
          <a:prstGeom prst="rect">
            <a:avLst/>
          </a:prstGeom>
        </p:spPr>
      </p:pic>
      <p:pic>
        <p:nvPicPr>
          <p:cNvPr id="9" name="Graphic 8" descr="Clipboard Mixed with solid fill">
            <a:extLst>
              <a:ext uri="{FF2B5EF4-FFF2-40B4-BE49-F238E27FC236}">
                <a16:creationId xmlns:a16="http://schemas.microsoft.com/office/drawing/2014/main" id="{2BB735A3-69B0-FFDC-7115-103679B02C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2982" y="4064000"/>
            <a:ext cx="6630762" cy="6630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53C861-A342-C807-85F5-E3A19A2BAE2F}"/>
              </a:ext>
            </a:extLst>
          </p:cNvPr>
          <p:cNvSpPr txBox="1"/>
          <p:nvPr/>
        </p:nvSpPr>
        <p:spPr>
          <a:xfrm>
            <a:off x="2283533" y="10455460"/>
            <a:ext cx="3449662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Build</a:t>
            </a: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 Privacy</a:t>
            </a:r>
            <a:b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Test Cases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77"/>
              <a:sym typeface="Avenir Next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97F0D-4D2D-7F90-CF41-AFF4FB79EA23}"/>
              </a:ext>
            </a:extLst>
          </p:cNvPr>
          <p:cNvSpPr txBox="1"/>
          <p:nvPr/>
        </p:nvSpPr>
        <p:spPr>
          <a:xfrm>
            <a:off x="10836666" y="10455460"/>
            <a:ext cx="2710678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Data Flow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5D1DA4-E5D6-A20C-78AE-A175BDFA87D3}"/>
              </a:ext>
            </a:extLst>
          </p:cNvPr>
          <p:cNvSpPr txBox="1"/>
          <p:nvPr/>
        </p:nvSpPr>
        <p:spPr>
          <a:xfrm>
            <a:off x="18441616" y="10455460"/>
            <a:ext cx="3868046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No Production</a:t>
            </a:r>
            <a:b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Data in Test!</a:t>
            </a:r>
          </a:p>
        </p:txBody>
      </p:sp>
    </p:spTree>
    <p:extLst>
      <p:ext uri="{BB962C8B-B14F-4D97-AF65-F5344CB8AC3E}">
        <p14:creationId xmlns:p14="http://schemas.microsoft.com/office/powerpoint/2010/main" val="1469849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tandardized Frameworks and Assessment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A" dirty="0"/>
              <a:t>APPLICATION</a:t>
            </a:r>
            <a:endParaRPr dirty="0"/>
          </a:p>
        </p:txBody>
      </p:sp>
      <p:sp>
        <p:nvSpPr>
          <p:cNvPr id="248" name="Security Maturity Assessment with SAM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rPr lang="en-CA" dirty="0"/>
              <a:t>OPERATIONS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0835BA3-D0E8-54F4-2F97-F3A7E5C119E1}"/>
              </a:ext>
            </a:extLst>
          </p:cNvPr>
          <p:cNvSpPr/>
          <p:nvPr/>
        </p:nvSpPr>
        <p:spPr>
          <a:xfrm>
            <a:off x="5208068" y="1878066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A2097-1748-229A-1A24-741BD7AC12FA}"/>
              </a:ext>
            </a:extLst>
          </p:cNvPr>
          <p:cNvSpPr txBox="1">
            <a:spLocks/>
          </p:cNvSpPr>
          <p:nvPr/>
        </p:nvSpPr>
        <p:spPr>
          <a:xfrm>
            <a:off x="6706462" y="1772372"/>
            <a:ext cx="4883959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Incident Management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Environment Management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Operational Management</a:t>
            </a:r>
          </a:p>
        </p:txBody>
      </p:sp>
      <p:pic>
        <p:nvPicPr>
          <p:cNvPr id="7" name="Graphic 6" descr="Bug under magnifying glass with solid fill">
            <a:extLst>
              <a:ext uri="{FF2B5EF4-FFF2-40B4-BE49-F238E27FC236}">
                <a16:creationId xmlns:a16="http://schemas.microsoft.com/office/drawing/2014/main" id="{97DDF979-C05B-CFE7-BA89-814A0850C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6489" y="1998044"/>
            <a:ext cx="914400" cy="914400"/>
          </a:xfrm>
          <a:prstGeom prst="rect">
            <a:avLst/>
          </a:prstGeom>
        </p:spPr>
      </p:pic>
      <p:pic>
        <p:nvPicPr>
          <p:cNvPr id="5" name="Graphic 4" descr="Hourglass Finished with solid fill">
            <a:extLst>
              <a:ext uri="{FF2B5EF4-FFF2-40B4-BE49-F238E27FC236}">
                <a16:creationId xmlns:a16="http://schemas.microsoft.com/office/drawing/2014/main" id="{6C34CED6-FFD9-F88F-1951-37D58F9124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060257" y="3988585"/>
            <a:ext cx="6630761" cy="6630761"/>
          </a:xfrm>
          <a:prstGeom prst="rect">
            <a:avLst/>
          </a:prstGeom>
        </p:spPr>
      </p:pic>
      <p:pic>
        <p:nvPicPr>
          <p:cNvPr id="6" name="Graphic 5" descr="Iceberg with solid fill">
            <a:extLst>
              <a:ext uri="{FF2B5EF4-FFF2-40B4-BE49-F238E27FC236}">
                <a16:creationId xmlns:a16="http://schemas.microsoft.com/office/drawing/2014/main" id="{FB7CD896-231B-1821-2A47-6D19D87602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876619" y="3984275"/>
            <a:ext cx="6630762" cy="6630762"/>
          </a:xfrm>
          <a:prstGeom prst="rect">
            <a:avLst/>
          </a:prstGeom>
        </p:spPr>
      </p:pic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B697DAB5-7E73-FD7F-E1AC-3A66740C98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2982" y="4064000"/>
            <a:ext cx="6630762" cy="6630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774A61-654A-9A98-9146-96532B6462D7}"/>
              </a:ext>
            </a:extLst>
          </p:cNvPr>
          <p:cNvSpPr txBox="1"/>
          <p:nvPr/>
        </p:nvSpPr>
        <p:spPr>
          <a:xfrm>
            <a:off x="1678402" y="10455460"/>
            <a:ext cx="4659930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Crossborder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 Must</a:t>
            </a:r>
            <a:br>
              <a:rPr lang="en-US" sz="4000" dirty="0">
                <a:latin typeface="Montserrat" pitchFamily="2" charset="77"/>
              </a:rPr>
            </a:br>
            <a:r>
              <a:rPr lang="en-US" sz="4000" dirty="0">
                <a:latin typeface="Montserrat" pitchFamily="2" charset="77"/>
              </a:rPr>
              <a:t>Be Considered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77"/>
              <a:sym typeface="Avenir Next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5EC05-7169-B98B-929A-A27ACAD4F593}"/>
              </a:ext>
            </a:extLst>
          </p:cNvPr>
          <p:cNvSpPr txBox="1"/>
          <p:nvPr/>
        </p:nvSpPr>
        <p:spPr>
          <a:xfrm>
            <a:off x="10105701" y="10455460"/>
            <a:ext cx="4172616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Address</a:t>
            </a: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 Privacy</a:t>
            </a:r>
            <a:b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Debt!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77"/>
              <a:sym typeface="Avenir Next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665D4-A300-67AB-E94A-7180C30C2644}"/>
              </a:ext>
            </a:extLst>
          </p:cNvPr>
          <p:cNvSpPr txBox="1"/>
          <p:nvPr/>
        </p:nvSpPr>
        <p:spPr>
          <a:xfrm>
            <a:off x="18553827" y="10455460"/>
            <a:ext cx="3643625" cy="18338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B2C</a:t>
            </a: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 – Build in</a:t>
            </a:r>
            <a:b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</a:b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77"/>
                <a:sym typeface="Avenir Next Medium"/>
              </a:rPr>
              <a:t>DSAR Time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77"/>
              <a:sym typeface="Avenir Nex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60247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A" dirty="0"/>
              <a:t>APPLICATION</a:t>
            </a:r>
            <a:endParaRPr dirty="0"/>
          </a:p>
        </p:txBody>
      </p:sp>
      <p:sp>
        <p:nvSpPr>
          <p:cNvPr id="253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685165">
              <a:spcBef>
                <a:spcPts val="3200"/>
              </a:spcBef>
              <a:defRPr sz="7221"/>
            </a:pPr>
            <a:r>
              <a:rPr lang="en-CA" dirty="0">
                <a:solidFill>
                  <a:srgbClr val="FF0659"/>
                </a:solidFill>
              </a:rPr>
              <a:t>OVERVIEW</a:t>
            </a:r>
            <a:endParaRPr dirty="0">
              <a:solidFill>
                <a:srgbClr val="FF0659"/>
              </a:solidFill>
            </a:endParaRPr>
          </a:p>
        </p:txBody>
      </p:sp>
      <p:sp useBgFill="1">
        <p:nvSpPr>
          <p:cNvPr id="2" name="Hexagon 1">
            <a:extLst>
              <a:ext uri="{FF2B5EF4-FFF2-40B4-BE49-F238E27FC236}">
                <a16:creationId xmlns:a16="http://schemas.microsoft.com/office/drawing/2014/main" id="{FD4C9219-5CC1-DA78-C22D-C73DAF5E5A9A}"/>
              </a:ext>
            </a:extLst>
          </p:cNvPr>
          <p:cNvSpPr/>
          <p:nvPr/>
        </p:nvSpPr>
        <p:spPr>
          <a:xfrm>
            <a:off x="12401665" y="6855037"/>
            <a:ext cx="3383280" cy="3094659"/>
          </a:xfrm>
          <a:prstGeom prst="hexagon">
            <a:avLst>
              <a:gd name="adj" fmla="val 22506"/>
              <a:gd name="vf" fmla="val 115470"/>
            </a:avLst>
          </a:prstGeom>
          <a:ln w="63500">
            <a:solidFill>
              <a:srgbClr val="EA3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 useBgFill="1">
        <p:nvSpPr>
          <p:cNvPr id="3" name="Hexagon 2">
            <a:extLst>
              <a:ext uri="{FF2B5EF4-FFF2-40B4-BE49-F238E27FC236}">
                <a16:creationId xmlns:a16="http://schemas.microsoft.com/office/drawing/2014/main" id="{CD50649C-22BA-1651-4B47-B84058993A53}"/>
              </a:ext>
            </a:extLst>
          </p:cNvPr>
          <p:cNvSpPr/>
          <p:nvPr/>
        </p:nvSpPr>
        <p:spPr>
          <a:xfrm>
            <a:off x="8502749" y="6855037"/>
            <a:ext cx="3383280" cy="3094659"/>
          </a:xfrm>
          <a:prstGeom prst="hexagon">
            <a:avLst>
              <a:gd name="adj" fmla="val 22506"/>
              <a:gd name="vf" fmla="val 115470"/>
            </a:avLst>
          </a:prstGeom>
          <a:ln w="63500">
            <a:solidFill>
              <a:srgbClr val="EA3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3D196-53ED-07FF-246F-23933971B1CB}"/>
              </a:ext>
            </a:extLst>
          </p:cNvPr>
          <p:cNvSpPr txBox="1"/>
          <p:nvPr/>
        </p:nvSpPr>
        <p:spPr>
          <a:xfrm>
            <a:off x="8688207" y="7986865"/>
            <a:ext cx="3012363" cy="8309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rlow" pitchFamily="2" charset="77"/>
                <a:cs typeface="Poppins" pitchFamily="2" charset="77"/>
              </a:rPr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EB12C-B4B5-72D2-097A-0D42FEBE34B7}"/>
              </a:ext>
            </a:extLst>
          </p:cNvPr>
          <p:cNvSpPr txBox="1"/>
          <p:nvPr/>
        </p:nvSpPr>
        <p:spPr>
          <a:xfrm>
            <a:off x="12607162" y="7986865"/>
            <a:ext cx="2972289" cy="8309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rlow" pitchFamily="2" charset="77"/>
                <a:cs typeface="Poppins" pitchFamily="2" charset="77"/>
              </a:rPr>
              <a:t>PRACTICE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EEC4F5-21FA-27A7-A0C3-4608B6617318}"/>
              </a:ext>
            </a:extLst>
          </p:cNvPr>
          <p:cNvSpPr/>
          <p:nvPr/>
        </p:nvSpPr>
        <p:spPr>
          <a:xfrm>
            <a:off x="17239647" y="4064000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074C5D-7C2E-FDDD-3635-978F46BB9C1A}"/>
              </a:ext>
            </a:extLst>
          </p:cNvPr>
          <p:cNvSpPr/>
          <p:nvPr/>
        </p:nvSpPr>
        <p:spPr>
          <a:xfrm>
            <a:off x="17239647" y="5935373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3A8BB9-C65E-EB65-4C82-1CC3C3FB4200}"/>
              </a:ext>
            </a:extLst>
          </p:cNvPr>
          <p:cNvSpPr/>
          <p:nvPr/>
        </p:nvSpPr>
        <p:spPr>
          <a:xfrm>
            <a:off x="17239647" y="7806746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CDCD89-6CBC-3583-140F-3C75C8C949C8}"/>
              </a:ext>
            </a:extLst>
          </p:cNvPr>
          <p:cNvSpPr/>
          <p:nvPr/>
        </p:nvSpPr>
        <p:spPr>
          <a:xfrm>
            <a:off x="17239647" y="9678119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23B86C-CB6B-15DC-969D-1B665B8C7FF9}"/>
              </a:ext>
            </a:extLst>
          </p:cNvPr>
          <p:cNvSpPr/>
          <p:nvPr/>
        </p:nvSpPr>
        <p:spPr>
          <a:xfrm>
            <a:off x="17239647" y="11549492"/>
            <a:ext cx="1191243" cy="1191243"/>
          </a:xfrm>
          <a:prstGeom prst="ellipse">
            <a:avLst/>
          </a:prstGeom>
          <a:solidFill>
            <a:srgbClr val="C869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860E5C8-3A84-DD1F-DFC6-CDDE21BC0578}"/>
              </a:ext>
            </a:extLst>
          </p:cNvPr>
          <p:cNvSpPr/>
          <p:nvPr/>
        </p:nvSpPr>
        <p:spPr>
          <a:xfrm>
            <a:off x="5881150" y="4064000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7F15A5-FE14-F46F-86BB-3FF542E7CFE8}"/>
              </a:ext>
            </a:extLst>
          </p:cNvPr>
          <p:cNvSpPr/>
          <p:nvPr/>
        </p:nvSpPr>
        <p:spPr>
          <a:xfrm>
            <a:off x="5881150" y="5935373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9FC8B6-D266-9FEE-D91A-6EE4FFC27B22}"/>
              </a:ext>
            </a:extLst>
          </p:cNvPr>
          <p:cNvSpPr/>
          <p:nvPr/>
        </p:nvSpPr>
        <p:spPr>
          <a:xfrm>
            <a:off x="5881150" y="7806746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7F642D-4434-3453-138D-B972E482A97A}"/>
              </a:ext>
            </a:extLst>
          </p:cNvPr>
          <p:cNvSpPr/>
          <p:nvPr/>
        </p:nvSpPr>
        <p:spPr>
          <a:xfrm>
            <a:off x="5881150" y="9678119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82E917-1CCF-F5CF-B37B-ADCA7F7FDC1E}"/>
              </a:ext>
            </a:extLst>
          </p:cNvPr>
          <p:cNvSpPr/>
          <p:nvPr/>
        </p:nvSpPr>
        <p:spPr>
          <a:xfrm>
            <a:off x="5881150" y="11549492"/>
            <a:ext cx="1191243" cy="1191243"/>
          </a:xfrm>
          <a:prstGeom prst="ellipse">
            <a:avLst/>
          </a:prstGeom>
          <a:solidFill>
            <a:srgbClr val="72A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876B3E1-94E8-4B61-8419-1C67CB745F49}"/>
              </a:ext>
            </a:extLst>
          </p:cNvPr>
          <p:cNvCxnSpPr>
            <a:cxnSpLocks/>
            <a:stCxn id="11" idx="6"/>
            <a:endCxn id="3" idx="3"/>
          </p:cNvCxnSpPr>
          <p:nvPr/>
        </p:nvCxnSpPr>
        <p:spPr>
          <a:xfrm>
            <a:off x="7072393" y="4659622"/>
            <a:ext cx="1430356" cy="3742745"/>
          </a:xfrm>
          <a:prstGeom prst="bentConnector3">
            <a:avLst/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3A917B64-EAE4-CD29-E591-FC196958A035}"/>
              </a:ext>
            </a:extLst>
          </p:cNvPr>
          <p:cNvCxnSpPr>
            <a:cxnSpLocks/>
            <a:stCxn id="3" idx="3"/>
            <a:endCxn id="14" idx="6"/>
          </p:cNvCxnSpPr>
          <p:nvPr/>
        </p:nvCxnSpPr>
        <p:spPr>
          <a:xfrm rot="10800000" flipV="1">
            <a:off x="7072393" y="8402367"/>
            <a:ext cx="1430356" cy="1871374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830ED58-20A5-E1C4-89DA-7D7715E12C51}"/>
              </a:ext>
            </a:extLst>
          </p:cNvPr>
          <p:cNvCxnSpPr>
            <a:cxnSpLocks/>
            <a:stCxn id="3" idx="3"/>
            <a:endCxn id="15" idx="6"/>
          </p:cNvCxnSpPr>
          <p:nvPr/>
        </p:nvCxnSpPr>
        <p:spPr>
          <a:xfrm rot="10800000" flipV="1">
            <a:off x="7072393" y="8402366"/>
            <a:ext cx="1430356" cy="3742747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5E2C6321-E479-618D-4C36-D3EDC44BFA5F}"/>
              </a:ext>
            </a:extLst>
          </p:cNvPr>
          <p:cNvCxnSpPr>
            <a:cxnSpLocks/>
            <a:stCxn id="3" idx="3"/>
            <a:endCxn id="12" idx="6"/>
          </p:cNvCxnSpPr>
          <p:nvPr/>
        </p:nvCxnSpPr>
        <p:spPr>
          <a:xfrm rot="10800000">
            <a:off x="7072393" y="6530995"/>
            <a:ext cx="1430356" cy="1871372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918798E-1933-383E-B20B-5CF6E53D6396}"/>
              </a:ext>
            </a:extLst>
          </p:cNvPr>
          <p:cNvCxnSpPr>
            <a:cxnSpLocks/>
            <a:stCxn id="3" idx="3"/>
            <a:endCxn id="13" idx="6"/>
          </p:cNvCxnSpPr>
          <p:nvPr/>
        </p:nvCxnSpPr>
        <p:spPr>
          <a:xfrm rot="10800000" flipV="1">
            <a:off x="7072393" y="8402366"/>
            <a:ext cx="1430356" cy="1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6314E56-45D5-49D7-7F88-3C7E454B6C28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rot="10800000" flipV="1">
            <a:off x="15784945" y="4659621"/>
            <a:ext cx="1454702" cy="3742745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4865F5C-441A-4FB3-21B4-2287D56AC72F}"/>
              </a:ext>
            </a:extLst>
          </p:cNvPr>
          <p:cNvCxnSpPr>
            <a:cxnSpLocks/>
            <a:stCxn id="2" idx="0"/>
            <a:endCxn id="9" idx="2"/>
          </p:cNvCxnSpPr>
          <p:nvPr/>
        </p:nvCxnSpPr>
        <p:spPr>
          <a:xfrm>
            <a:off x="15784945" y="8402367"/>
            <a:ext cx="1454702" cy="1871374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4DE224F3-AEA4-4566-D11E-02AE8408D07C}"/>
              </a:ext>
            </a:extLst>
          </p:cNvPr>
          <p:cNvCxnSpPr>
            <a:cxnSpLocks/>
            <a:stCxn id="2" idx="0"/>
            <a:endCxn id="10" idx="2"/>
          </p:cNvCxnSpPr>
          <p:nvPr/>
        </p:nvCxnSpPr>
        <p:spPr>
          <a:xfrm>
            <a:off x="15784945" y="8402367"/>
            <a:ext cx="1454702" cy="3742747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D1F5CACD-A55C-B1D7-0FDB-EABAC8A47061}"/>
              </a:ext>
            </a:extLst>
          </p:cNvPr>
          <p:cNvCxnSpPr>
            <a:cxnSpLocks/>
            <a:stCxn id="2" idx="0"/>
            <a:endCxn id="7" idx="2"/>
          </p:cNvCxnSpPr>
          <p:nvPr/>
        </p:nvCxnSpPr>
        <p:spPr>
          <a:xfrm flipV="1">
            <a:off x="15784945" y="6530995"/>
            <a:ext cx="1454702" cy="1871372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0076396D-3F55-885F-9E5E-80CD0822D8AD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 rot="10800000">
            <a:off x="15784945" y="8402368"/>
            <a:ext cx="145470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EA34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btitle 2">
            <a:extLst>
              <a:ext uri="{FF2B5EF4-FFF2-40B4-BE49-F238E27FC236}">
                <a16:creationId xmlns:a16="http://schemas.microsoft.com/office/drawing/2014/main" id="{F7D4C1A3-B13C-8974-BFC3-5947F9AD755E}"/>
              </a:ext>
            </a:extLst>
          </p:cNvPr>
          <p:cNvSpPr txBox="1">
            <a:spLocks/>
          </p:cNvSpPr>
          <p:nvPr/>
        </p:nvSpPr>
        <p:spPr>
          <a:xfrm>
            <a:off x="1509146" y="4505283"/>
            <a:ext cx="4075037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Governance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686297B0-DD2B-1572-599D-A61E8079BF36}"/>
              </a:ext>
            </a:extLst>
          </p:cNvPr>
          <p:cNvSpPr txBox="1">
            <a:spLocks/>
          </p:cNvSpPr>
          <p:nvPr/>
        </p:nvSpPr>
        <p:spPr>
          <a:xfrm>
            <a:off x="1497865" y="6328112"/>
            <a:ext cx="4075037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Design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F2AD0BB9-6081-7DF8-A61F-EBC70CAA8DF0}"/>
              </a:ext>
            </a:extLst>
          </p:cNvPr>
          <p:cNvSpPr txBox="1">
            <a:spLocks/>
          </p:cNvSpPr>
          <p:nvPr/>
        </p:nvSpPr>
        <p:spPr>
          <a:xfrm>
            <a:off x="762000" y="8153558"/>
            <a:ext cx="4810903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Implementation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1179700A-6D5C-7F00-6301-C82698C20801}"/>
              </a:ext>
            </a:extLst>
          </p:cNvPr>
          <p:cNvSpPr txBox="1">
            <a:spLocks/>
          </p:cNvSpPr>
          <p:nvPr/>
        </p:nvSpPr>
        <p:spPr>
          <a:xfrm>
            <a:off x="1497865" y="10036955"/>
            <a:ext cx="4075037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Verification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0CE2B34F-24BE-839E-1200-0A995FE5DB9E}"/>
              </a:ext>
            </a:extLst>
          </p:cNvPr>
          <p:cNvSpPr txBox="1">
            <a:spLocks/>
          </p:cNvSpPr>
          <p:nvPr/>
        </p:nvSpPr>
        <p:spPr>
          <a:xfrm>
            <a:off x="1488272" y="11921941"/>
            <a:ext cx="4075037" cy="5557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500"/>
              </a:lnSpc>
            </a:pPr>
            <a:r>
              <a:rPr lang="en-US" sz="4000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Operations</a:t>
            </a: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5D732C28-7FD6-B14C-231F-48E39A3CE655}"/>
              </a:ext>
            </a:extLst>
          </p:cNvPr>
          <p:cNvSpPr txBox="1">
            <a:spLocks/>
          </p:cNvSpPr>
          <p:nvPr/>
        </p:nvSpPr>
        <p:spPr>
          <a:xfrm>
            <a:off x="18738041" y="3958306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Strategy and Metrics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Policy and Compliance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Education and Guidance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97C8AA1E-02B2-FB05-8174-E877737D5468}"/>
              </a:ext>
            </a:extLst>
          </p:cNvPr>
          <p:cNvSpPr txBox="1">
            <a:spLocks/>
          </p:cNvSpPr>
          <p:nvPr/>
        </p:nvSpPr>
        <p:spPr>
          <a:xfrm>
            <a:off x="18738041" y="5829678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Threat Assessment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Requirements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by Design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41F6C3CA-A14C-C70D-592C-8B755C52D3C6}"/>
              </a:ext>
            </a:extLst>
          </p:cNvPr>
          <p:cNvSpPr txBox="1">
            <a:spLocks/>
          </p:cNvSpPr>
          <p:nvPr/>
        </p:nvSpPr>
        <p:spPr>
          <a:xfrm>
            <a:off x="18738041" y="7730110"/>
            <a:ext cx="4075037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Secure Build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Secure Deployment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Defect Management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E154EB2E-79D8-D252-90C8-BA01394D4B89}"/>
              </a:ext>
            </a:extLst>
          </p:cNvPr>
          <p:cNvSpPr txBox="1">
            <a:spLocks/>
          </p:cNvSpPr>
          <p:nvPr/>
        </p:nvSpPr>
        <p:spPr>
          <a:xfrm>
            <a:off x="18738041" y="9572424"/>
            <a:ext cx="4883959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Architecture Assessment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Requirements Driven Testing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Privacy Testing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65631263-93E4-9120-6FF4-86B02E5F7FC1}"/>
              </a:ext>
            </a:extLst>
          </p:cNvPr>
          <p:cNvSpPr txBox="1">
            <a:spLocks/>
          </p:cNvSpPr>
          <p:nvPr/>
        </p:nvSpPr>
        <p:spPr>
          <a:xfrm>
            <a:off x="18738041" y="11443798"/>
            <a:ext cx="4883959" cy="14026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00"/>
              </a:lnSpc>
            </a:pP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Incident Management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Environment Management</a:t>
            </a:r>
            <a:b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chemeClr val="tx1"/>
                </a:solidFill>
                <a:latin typeface="Montserra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Operational Management</a:t>
            </a:r>
          </a:p>
        </p:txBody>
      </p:sp>
      <p:pic>
        <p:nvPicPr>
          <p:cNvPr id="53" name="Graphic 52" descr="Juggler with solid fill">
            <a:extLst>
              <a:ext uri="{FF2B5EF4-FFF2-40B4-BE49-F238E27FC236}">
                <a16:creationId xmlns:a16="http://schemas.microsoft.com/office/drawing/2014/main" id="{552BF9FE-2724-4A14-4431-7EFCF9CED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4418" y="11687912"/>
            <a:ext cx="914400" cy="914400"/>
          </a:xfrm>
          <a:prstGeom prst="rect">
            <a:avLst/>
          </a:prstGeom>
        </p:spPr>
      </p:pic>
      <p:pic>
        <p:nvPicPr>
          <p:cNvPr id="55" name="Graphic 54" descr="Test Dummy with solid fill">
            <a:extLst>
              <a:ext uri="{FF2B5EF4-FFF2-40B4-BE49-F238E27FC236}">
                <a16:creationId xmlns:a16="http://schemas.microsoft.com/office/drawing/2014/main" id="{37845F36-F03E-44C1-ED1A-EE5DB38C4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5245" y="9816538"/>
            <a:ext cx="914400" cy="914400"/>
          </a:xfrm>
          <a:prstGeom prst="rect">
            <a:avLst/>
          </a:prstGeom>
        </p:spPr>
      </p:pic>
      <p:pic>
        <p:nvPicPr>
          <p:cNvPr id="57" name="Graphic 56" descr="Crane with solid fill">
            <a:extLst>
              <a:ext uri="{FF2B5EF4-FFF2-40B4-BE49-F238E27FC236}">
                <a16:creationId xmlns:a16="http://schemas.microsoft.com/office/drawing/2014/main" id="{467D3902-EDE9-385B-F859-9527C23383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55244" y="7945163"/>
            <a:ext cx="914400" cy="914400"/>
          </a:xfrm>
          <a:prstGeom prst="rect">
            <a:avLst/>
          </a:prstGeom>
        </p:spPr>
      </p:pic>
      <p:pic>
        <p:nvPicPr>
          <p:cNvPr id="59" name="Graphic 58" descr="Cave Drawing with solid fill">
            <a:extLst>
              <a:ext uri="{FF2B5EF4-FFF2-40B4-BE49-F238E27FC236}">
                <a16:creationId xmlns:a16="http://schemas.microsoft.com/office/drawing/2014/main" id="{69C763BD-61AF-5A57-8819-111E0853F6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9571" y="6073792"/>
            <a:ext cx="914400" cy="914400"/>
          </a:xfrm>
          <a:prstGeom prst="rect">
            <a:avLst/>
          </a:prstGeom>
        </p:spPr>
      </p:pic>
      <p:pic>
        <p:nvPicPr>
          <p:cNvPr id="61" name="Graphic 60" descr="Gavel with solid fill">
            <a:extLst>
              <a:ext uri="{FF2B5EF4-FFF2-40B4-BE49-F238E27FC236}">
                <a16:creationId xmlns:a16="http://schemas.microsoft.com/office/drawing/2014/main" id="{B9F86225-40F0-7FE0-FCA6-0BE0ACCE95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04418" y="4151519"/>
            <a:ext cx="914400" cy="914400"/>
          </a:xfrm>
          <a:prstGeom prst="rect">
            <a:avLst/>
          </a:prstGeom>
        </p:spPr>
      </p:pic>
      <p:pic>
        <p:nvPicPr>
          <p:cNvPr id="63" name="Graphic 62" descr="Bug under magnifying glass with solid fill">
            <a:extLst>
              <a:ext uri="{FF2B5EF4-FFF2-40B4-BE49-F238E27FC236}">
                <a16:creationId xmlns:a16="http://schemas.microsoft.com/office/drawing/2014/main" id="{9C06C943-12D0-2B3B-8848-38979FC980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8068" y="11669470"/>
            <a:ext cx="914400" cy="914400"/>
          </a:xfrm>
          <a:prstGeom prst="rect">
            <a:avLst/>
          </a:prstGeom>
        </p:spPr>
      </p:pic>
      <p:pic>
        <p:nvPicPr>
          <p:cNvPr id="193" name="Graphic 192" descr="Drawing compass with solid fill">
            <a:extLst>
              <a:ext uri="{FF2B5EF4-FFF2-40B4-BE49-F238E27FC236}">
                <a16:creationId xmlns:a16="http://schemas.microsoft.com/office/drawing/2014/main" id="{8ED4F439-2CB6-F214-41F4-27F38ECB071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370552" y="9798096"/>
            <a:ext cx="914400" cy="914400"/>
          </a:xfrm>
          <a:prstGeom prst="rect">
            <a:avLst/>
          </a:prstGeom>
        </p:spPr>
      </p:pic>
      <p:pic>
        <p:nvPicPr>
          <p:cNvPr id="195" name="Graphic 194" descr="Safe with solid fill">
            <a:extLst>
              <a:ext uri="{FF2B5EF4-FFF2-40B4-BE49-F238E27FC236}">
                <a16:creationId xmlns:a16="http://schemas.microsoft.com/office/drawing/2014/main" id="{5C688CFB-EE3D-CAA7-FFDD-F5F934EC5E4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376135" y="7949981"/>
            <a:ext cx="914400" cy="914400"/>
          </a:xfrm>
          <a:prstGeom prst="rect">
            <a:avLst/>
          </a:prstGeom>
        </p:spPr>
      </p:pic>
      <p:pic>
        <p:nvPicPr>
          <p:cNvPr id="197" name="Graphic 196" descr="Radioactive with solid fill">
            <a:extLst>
              <a:ext uri="{FF2B5EF4-FFF2-40B4-BE49-F238E27FC236}">
                <a16:creationId xmlns:a16="http://schemas.microsoft.com/office/drawing/2014/main" id="{A019B22A-D6A3-7BE6-9969-90C25C61309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378068" y="6082895"/>
            <a:ext cx="914400" cy="914400"/>
          </a:xfrm>
          <a:prstGeom prst="rect">
            <a:avLst/>
          </a:prstGeom>
        </p:spPr>
      </p:pic>
      <p:pic>
        <p:nvPicPr>
          <p:cNvPr id="199" name="Graphic 198" descr="Clipboard Checked with solid fill">
            <a:extLst>
              <a:ext uri="{FF2B5EF4-FFF2-40B4-BE49-F238E27FC236}">
                <a16:creationId xmlns:a16="http://schemas.microsoft.com/office/drawing/2014/main" id="{BC1FC35E-6E2B-439C-0DA9-02497184E1F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370552" y="4154578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0A63327-462D-3E8F-8FCF-4C9A6C1FF9CA}"/>
              </a:ext>
            </a:extLst>
          </p:cNvPr>
          <p:cNvSpPr txBox="1"/>
          <p:nvPr/>
        </p:nvSpPr>
        <p:spPr>
          <a:xfrm>
            <a:off x="13786385" y="-349995"/>
            <a:ext cx="10381047" cy="8797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1800" dirty="0">
                <a:latin typeface="Epilogue Medium" pitchFamily="2" charset="77"/>
              </a:rPr>
              <a:t>Modified from </a:t>
            </a:r>
            <a:r>
              <a:rPr lang="en-US" sz="1800" dirty="0">
                <a:solidFill>
                  <a:srgbClr val="FF0659"/>
                </a:solidFill>
                <a:latin typeface="Epilogue Medium" pitchFamily="2" charset="77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original</a:t>
            </a:r>
            <a:r>
              <a:rPr lang="en-US" sz="1800" dirty="0">
                <a:latin typeface="Epilogue Medium" pitchFamily="2" charset="77"/>
              </a:rPr>
              <a:t>. OWASP SAMM is published by OWASP under the </a:t>
            </a:r>
            <a:r>
              <a:rPr lang="en-US" sz="1800" dirty="0">
                <a:solidFill>
                  <a:srgbClr val="FF0659"/>
                </a:solidFill>
                <a:latin typeface="Epilogue Medium" pitchFamily="2" charset="77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 4.0 license</a:t>
            </a:r>
            <a:endParaRPr lang="en-US" sz="1800" dirty="0">
              <a:solidFill>
                <a:srgbClr val="FF0659"/>
              </a:solidFill>
              <a:latin typeface="Epilogue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7285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ad with a lot of papers&#10;&#10;AI-generated content may be incorrect.">
            <a:extLst>
              <a:ext uri="{FF2B5EF4-FFF2-40B4-BE49-F238E27FC236}">
                <a16:creationId xmlns:a16="http://schemas.microsoft.com/office/drawing/2014/main" id="{5CABF562-F8E6-B92E-D75D-F065CFC25D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-2673348"/>
            <a:ext cx="24422098" cy="19092482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13DA5F-46CE-AC82-4304-13DDABB33320}"/>
              </a:ext>
            </a:extLst>
          </p:cNvPr>
          <p:cNvSpPr>
            <a:spLocks noGrp="1"/>
          </p:cNvSpPr>
          <p:nvPr>
            <p:ph type="pic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7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latin typeface="Montserrat" pitchFamily="2" charset="77"/>
            </a:endParaRPr>
          </a:p>
        </p:txBody>
      </p:sp>
      <p:sp>
        <p:nvSpPr>
          <p:cNvPr id="338" name="Thank You for Joining"/>
          <p:cNvSpPr txBox="1">
            <a:spLocks noGrp="1"/>
          </p:cNvSpPr>
          <p:nvPr>
            <p:ph type="title"/>
          </p:nvPr>
        </p:nvSpPr>
        <p:spPr>
          <a:xfrm>
            <a:off x="762000" y="9271000"/>
            <a:ext cx="22860000" cy="3810000"/>
          </a:xfrm>
          <a:prstGeom prst="rect">
            <a:avLst/>
          </a:prstGeom>
        </p:spPr>
        <p:txBody>
          <a:bodyPr>
            <a:noAutofit/>
          </a:bodyPr>
          <a:lstStyle>
            <a:lvl1pPr defTabSz="643889">
              <a:defRPr sz="23634"/>
            </a:lvl1pPr>
          </a:lstStyle>
          <a:p>
            <a:r>
              <a:rPr sz="17800" dirty="0"/>
              <a:t>Thank You for Joining</a:t>
            </a:r>
          </a:p>
        </p:txBody>
      </p:sp>
      <p:sp>
        <p:nvSpPr>
          <p:cNvPr id="339" name="Here Endeth the Lesson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Here </a:t>
            </a:r>
            <a:r>
              <a:rPr dirty="0" err="1"/>
              <a:t>Endeth</a:t>
            </a:r>
            <a:r>
              <a:rPr dirty="0"/>
              <a:t> the Lesson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Ross_Headshots-32.jpeg"/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049000" cy="13716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7" name="Ross Saunders"/>
          <p:cNvSpPr txBox="1">
            <a:spLocks noGrp="1"/>
          </p:cNvSpPr>
          <p:nvPr>
            <p:ph type="title"/>
          </p:nvPr>
        </p:nvSpPr>
        <p:spPr>
          <a:xfrm>
            <a:off x="11385885" y="9283032"/>
            <a:ext cx="12573000" cy="3810000"/>
          </a:xfrm>
          <a:prstGeom prst="rect">
            <a:avLst/>
          </a:prstGeom>
        </p:spPr>
        <p:txBody>
          <a:bodyPr>
            <a:noAutofit/>
          </a:bodyPr>
          <a:lstStyle>
            <a:lvl1pPr defTabSz="511809">
              <a:defRPr sz="18786"/>
            </a:lvl1pPr>
          </a:lstStyle>
          <a:p>
            <a:pPr algn="ctr"/>
            <a:r>
              <a:rPr lang="en-CA" sz="11800" dirty="0"/>
              <a:t>LEARN MORE</a:t>
            </a:r>
            <a:endParaRPr sz="11800" dirty="0"/>
          </a:p>
        </p:txBody>
      </p:sp>
      <p:pic>
        <p:nvPicPr>
          <p:cNvPr id="2" name="adobe-express-qr-code.png" descr="adobe-express-qr-code.png">
            <a:extLst>
              <a:ext uri="{FF2B5EF4-FFF2-40B4-BE49-F238E27FC236}">
                <a16:creationId xmlns:a16="http://schemas.microsoft.com/office/drawing/2014/main" id="{E6089187-7CED-A5AE-1C56-09DFECBE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5516" y="3002890"/>
            <a:ext cx="4733738" cy="473373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his is not a Rickroll, I promise.">
            <a:extLst>
              <a:ext uri="{FF2B5EF4-FFF2-40B4-BE49-F238E27FC236}">
                <a16:creationId xmlns:a16="http://schemas.microsoft.com/office/drawing/2014/main" id="{B3CBF667-ACD2-16A7-890A-311B388AB116}"/>
              </a:ext>
            </a:extLst>
          </p:cNvPr>
          <p:cNvSpPr txBox="1"/>
          <p:nvPr/>
        </p:nvSpPr>
        <p:spPr>
          <a:xfrm>
            <a:off x="15471458" y="7835230"/>
            <a:ext cx="4401852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algn="ctr"/>
            <a:r>
              <a:rPr sz="2000" dirty="0">
                <a:latin typeface="Montserrat" pitchFamily="2" charset="77"/>
              </a:rPr>
              <a:t>This is not a </a:t>
            </a:r>
            <a:r>
              <a:rPr sz="2000" dirty="0" err="1">
                <a:latin typeface="Montserrat" pitchFamily="2" charset="77"/>
              </a:rPr>
              <a:t>Rickroll</a:t>
            </a:r>
            <a:r>
              <a:rPr sz="2000" dirty="0">
                <a:latin typeface="Montserrat" pitchFamily="2" charset="77"/>
              </a:rPr>
              <a:t>, I promise.</a:t>
            </a:r>
          </a:p>
        </p:txBody>
      </p:sp>
      <p:pic>
        <p:nvPicPr>
          <p:cNvPr id="4" name="Picture 3" descr="A pink stick figure with a black background&#10;&#10;AI-generated content may be incorrect.">
            <a:extLst>
              <a:ext uri="{FF2B5EF4-FFF2-40B4-BE49-F238E27FC236}">
                <a16:creationId xmlns:a16="http://schemas.microsoft.com/office/drawing/2014/main" id="{8493E83D-275E-0374-2F50-63A3C74C5E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9994711" y="7154940"/>
            <a:ext cx="1143000" cy="1143000"/>
          </a:xfrm>
          <a:prstGeom prst="rect">
            <a:avLst/>
          </a:prstGeom>
        </p:spPr>
      </p:pic>
      <p:sp>
        <p:nvSpPr>
          <p:cNvPr id="5" name="This is not a Rickroll, I promise.">
            <a:extLst>
              <a:ext uri="{FF2B5EF4-FFF2-40B4-BE49-F238E27FC236}">
                <a16:creationId xmlns:a16="http://schemas.microsoft.com/office/drawing/2014/main" id="{A6ECE046-964B-4049-A38F-616DB6015C7B}"/>
              </a:ext>
            </a:extLst>
          </p:cNvPr>
          <p:cNvSpPr txBox="1"/>
          <p:nvPr/>
        </p:nvSpPr>
        <p:spPr>
          <a:xfrm>
            <a:off x="15471458" y="2227179"/>
            <a:ext cx="4401852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 algn="ctr"/>
            <a:r>
              <a:rPr lang="en-CA" dirty="0" err="1">
                <a:latin typeface="Montserrat" pitchFamily="2" charset="77"/>
              </a:rPr>
              <a:t>nerdwithtrustissues.ca</a:t>
            </a:r>
            <a:endParaRPr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7690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222222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580</Words>
  <Application>Microsoft Macintosh PowerPoint</Application>
  <PresentationFormat>Custom</PresentationFormat>
  <Paragraphs>126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Montserrat SemiBold</vt:lpstr>
      <vt:lpstr>Montserrat</vt:lpstr>
      <vt:lpstr>Barlow</vt:lpstr>
      <vt:lpstr>Avenir Next Regular</vt:lpstr>
      <vt:lpstr>Lato Light</vt:lpstr>
      <vt:lpstr>Epilogue Medium</vt:lpstr>
      <vt:lpstr>Anton</vt:lpstr>
      <vt:lpstr>Avenir Next Medium</vt:lpstr>
      <vt:lpstr>New_Template7</vt:lpstr>
      <vt:lpstr>Privacy Components That Should Actually Matter to Development Teams</vt:lpstr>
      <vt:lpstr>Ross Saunders</vt:lpstr>
      <vt:lpstr>A Bit of Background</vt:lpstr>
      <vt:lpstr>The OECD Privacy Principles</vt:lpstr>
      <vt:lpstr>Comparison of FOUR LETTER WORDS</vt:lpstr>
      <vt:lpstr>Cookie and Consent Legislation (EU/UK/QUEBEC)</vt:lpstr>
      <vt:lpstr>Data is not just “Sensitive”</vt:lpstr>
      <vt:lpstr>How it affects development</vt:lpstr>
      <vt:lpstr>OWASP SAMM – Sound Familiar?</vt:lpstr>
      <vt:lpstr>GOVERNANCE</vt:lpstr>
      <vt:lpstr>DESIGN</vt:lpstr>
      <vt:lpstr>IMPLEMENTATION</vt:lpstr>
      <vt:lpstr>VERIFICATION</vt:lpstr>
      <vt:lpstr>OPERATIONS</vt:lpstr>
      <vt:lpstr>OVERVIEW</vt:lpstr>
      <vt:lpstr>Thank You for Joining</vt:lpstr>
      <vt:lpstr>LEARN 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Ross Saunders</cp:lastModifiedBy>
  <cp:revision>2</cp:revision>
  <dcterms:modified xsi:type="dcterms:W3CDTF">2026-01-13T23:54:38Z</dcterms:modified>
</cp:coreProperties>
</file>